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71" r:id="rId7"/>
    <p:sldId id="263" r:id="rId8"/>
    <p:sldId id="262" r:id="rId9"/>
    <p:sldId id="264" r:id="rId10"/>
    <p:sldId id="266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F77DC-7873-4339-B327-E9F8B78F3580}" type="datetimeFigureOut">
              <a:rPr lang="sr-Latn-RS" smtClean="0"/>
              <a:t>27.2.2026.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7460A-90DB-41A8-A38A-96DECAA7D49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1887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/>
              <a:t>MAE</a:t>
            </a:r>
            <a:r>
              <a:rPr lang="en-US"/>
              <a:t> – Srednja apsolutna greska (apsoltna vrednost srednje vrednosti izmedju realne I predvidjene vrednosti)</a:t>
            </a:r>
          </a:p>
          <a:p>
            <a:r>
              <a:rPr lang="sr-Latn-RS"/>
              <a:t>RMSE</a:t>
            </a:r>
            <a:r>
              <a:rPr lang="en-US"/>
              <a:t> – koren prosecne kvadratne vrednosti greske</a:t>
            </a:r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7460A-90DB-41A8-A38A-96DECAA7D495}" type="slidenum">
              <a:rPr lang="sr-Latn-RS" smtClean="0"/>
              <a:t>5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62463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64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0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6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6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1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2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2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0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3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84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04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1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0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22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8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C24FA54-30F0-49AA-A0F2-55E1A7CF090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D7B489C-F7B3-408E-B280-372C30A3F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686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F5AD-E412-B6B0-D13D-22BDAD274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78" y="669956"/>
            <a:ext cx="11479793" cy="1416933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sr-Latn-R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AMETNI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PRAĆENJE I OPTIMIZACIJU BUDŽETA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4388D-F3E2-609F-9F36-578A15B48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452472"/>
            <a:ext cx="12192000" cy="4256146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Duboko učenje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Prezentacija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projekta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Mentor: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Bojan Miti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ć, br.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indeksa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1918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Prof. dr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Aleksandar Milosavljevi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Vukašin Popović, br. indeksa: 1927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Niš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mart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Godina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8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4F0A-F475-E9F8-8BB6-176E5E74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59230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OTIVACIJA I PROBLEM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5B3B2-243C-A050-8124-274C0B0D9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99149"/>
            <a:ext cx="10353762" cy="4389382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 savremenom poslovanju i ličnim finansijama, troškovi često variraju iz dana u dan i teško ih je precizno planirati. 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Neočekivane oscilacije mogu dovesti do: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prekoračenja budžeta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lošeg upravljanja resursima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smanjene finansijske stabilnosti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nemogućnosti pravovremenog reagovanja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465EC-1E56-3EDB-39F0-052B294FB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652" y="4165891"/>
            <a:ext cx="4076700" cy="22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7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F2AE-4338-FAB4-A283-67575A1F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84850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OPIS REŠENJA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E52E-84AA-BDF6-9C55-75185255E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2734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Sistem koristi Rolling Window pristup za obradu vremenskih serija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Model trenira nad poslednjih N dana radi adaptacije na promene u trendu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Implementirana je multi-model arhitektura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Koriste se 3 specijalizovana modela: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Model za male troškove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Model za srednje troškove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Model za velike troškove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Podela omogućava veću preciznost i stabilnije predikcije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89EBA-F0E8-1984-008D-D82490FFD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572" y="4052109"/>
            <a:ext cx="480127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3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1EFE-AD49-9F6C-1F14-CCE19850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6742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TEHNOLOGIJE I ARHITEKTURA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0EB6A-E7E4-6C5A-C8F0-42A20F22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93564"/>
            <a:ext cx="10353762" cy="478971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(.h5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SciKit-learn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sr-Latn-R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vremenske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serije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vs.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pristupi</a:t>
            </a:r>
            <a:endParaRPr lang="sr-Latn-R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11FF7-510E-4685-6EFC-EB5B57B60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24" y="2057151"/>
            <a:ext cx="1247949" cy="120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9BD91-4060-FBE7-3225-7D40F3FBE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6" y="4402269"/>
            <a:ext cx="5668166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E558CF-5C33-FF5E-AE06-5720A59AA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562" y="2182748"/>
            <a:ext cx="132416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6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8D53-E81B-E14B-06A4-97EAAE8C0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741233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STATISTIKA GRESKE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87EDF-59D9-2DBC-D23D-F9843223E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6" y="2191335"/>
            <a:ext cx="11538857" cy="3216923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Greške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MAE(Mean Absolute Error) </a:t>
            </a:r>
            <a:r>
              <a:rPr lang="en-US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RMSE(</a:t>
            </a:r>
            <a:r>
              <a:rPr lang="en-GB" sz="2400" b="1"/>
              <a:t>Root Mean Square Error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vizuelno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prikazane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grafikonu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C175F-F7E6-4956-8295-7142F8D3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115" y="3950730"/>
            <a:ext cx="8907118" cy="1457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19DC5-286A-490E-9B85-47DE461D4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538" y="5727161"/>
            <a:ext cx="5706271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8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318A-143E-89D6-7925-D23C7767F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IZBOR ARHITEKTURE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F89E9-CE9A-7792-EABA-6A7D6D85B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Tačnosti – koliko model prosečno odstupa od realnih vrednosti</a:t>
            </a:r>
          </a:p>
          <a:p>
            <a:r>
              <a:rPr lang="en-GB" sz="2400"/>
              <a:t>Stabilnosti – da li model pravi ekstremne greške</a:t>
            </a:r>
          </a:p>
          <a:p>
            <a:r>
              <a:rPr lang="en-GB" sz="2400"/>
              <a:t>Robusnosti – koliko je model osetljiv na neuobičajene podatke</a:t>
            </a:r>
            <a:endParaRPr lang="sr-Latn-RS" sz="2400"/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Aplikacija omogućava izbor modela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singl-model</a:t>
            </a:r>
            <a:endParaRPr lang="sr-Latn-R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</a:t>
            </a:r>
            <a:endParaRPr lang="sr-Latn-R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sr-Latn-R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91419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C31C-4D23-F6A2-A80D-C6B7EF92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90285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SIMULACIJA: SINGLE-MODEL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6C3A-5028-B72F-34EE-D80A3E5B5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64640"/>
            <a:ext cx="10353762" cy="4668351"/>
          </a:xfrm>
        </p:spPr>
        <p:txBody>
          <a:bodyPr>
            <a:normAutofit/>
          </a:bodyPr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Predikcija za 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sutra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 956.72, Accuracy: 40.0%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single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“bolja tačnost”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3DE9D-DC1C-7477-2B0E-ED8E21F24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348" y="2273431"/>
            <a:ext cx="5442857" cy="37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4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C4D8-CEDE-F32D-91EA-B7B463CC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8343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SIMULACIJA: MULTI-MODEL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E122E-64B8-94DC-12BA-1BFC8817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18793"/>
            <a:ext cx="10353762" cy="5539207"/>
          </a:xfrm>
        </p:spPr>
        <p:txBody>
          <a:bodyPr>
            <a:normAutofit/>
          </a:bodyPr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Predikcija za sutra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 1216.17, Accuracy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.0</a:t>
            </a:r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Zakljucak: “lo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šija tačnost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/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Bolje prati realne tro</a:t>
            </a:r>
            <a:r>
              <a:rPr lang="sr-Latn-RS" sz="2200">
                <a:latin typeface="Times New Roman" panose="02020603050405020304" pitchFamily="18" charset="0"/>
                <a:cs typeface="Times New Roman" panose="02020603050405020304" pitchFamily="18" charset="0"/>
              </a:rPr>
              <a:t>škove</a:t>
            </a:r>
          </a:p>
          <a:p>
            <a:pPr lvl="1"/>
            <a:r>
              <a:rPr lang="sr-Latn-R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Na velikom broju dana veća preciznost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1E8B0-2DFE-7164-8C99-4BD879640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5" t="471" r="22486" b="5605"/>
          <a:stretch/>
        </p:blipFill>
        <p:spPr>
          <a:xfrm>
            <a:off x="6190488" y="2551175"/>
            <a:ext cx="4928616" cy="361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2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7902-2981-7266-FC38-FD512D15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63860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SIMULATE PREDIKCIJA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AE5B-BEC0-A274-8C0E-DF2ECACE6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52025"/>
            <a:ext cx="10353762" cy="44568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 2026-01-18 do 2026-01-29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Tačnost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20.0%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okviru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±30%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modela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po danim</a:t>
            </a:r>
            <a:r>
              <a:rPr lang="sr-Latn-R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2D215-ABEF-DF06-6BD1-DC044E21E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117" y="3288962"/>
            <a:ext cx="7186347" cy="329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ADA4-8AA0-A0F8-2F51-D6B795D08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61258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PREDNOSTI REŠENJA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CCEF3-C4B7-315A-313B-0ED58D3E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378065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Preciznije predikcije – hvata kompleksne obrasce u podacima.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Brža analiza – automatski obrađuje velike količine istorijskih troškova.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Adaptivnost – prilagođava se promenama u trendovima i sezonalnosti.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Podrška u odlučivanju – pomaže pri planiranju budžeta i smanjenju rizika.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3DC67-AC4F-172A-B3D0-E1EF077D5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482" y="3831336"/>
            <a:ext cx="299126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9FF6-8B1C-E787-7DE1-3D0E0BC4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OGRANIČENJA I BUDUĆI RAD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5212-62FA-C3A3-177A-C4F2C1EE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89650"/>
            <a:ext cx="10353762" cy="3267722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Ograničena tačnost – model precizno predviđa samo do ~60% slučajeva.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Neprilagođeno potpuno dinamičnim troškovima – nagli, neočekivani skokovi troškova se teško predviđaju.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Zavisnost od istorijskih podataka – kvalitet predikcija zavisi od dostupnosti i pouzdanosti prethodnih podataka.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Ograničena generalizacija – model može slabije raditi na novim tipovima troškova ili u potpuno drugačijim uslovima.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1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F6FC-28E4-884F-19B5-A0218336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20914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694A0-8F5C-F8B4-CE73-F944488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363551"/>
          </a:xfrm>
        </p:spPr>
        <p:txBody>
          <a:bodyPr>
            <a:norm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AccountantAI pokazuje primenu AI u predikciji dnevnih troškova</a:t>
            </a:r>
            <a:endParaRPr lang="sr-Latn-R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Rezultati ukazuju na razlike između multi-model i single-model pristupa</a:t>
            </a:r>
            <a:endParaRPr lang="sr-Latn-R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Projekat daje osnovu za dalja istraživanja i unapređenja modela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1AC24-0819-8D63-C2F1-C1ED373C0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987" y="3955280"/>
            <a:ext cx="2772229" cy="248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98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933B-5A45-8F19-05F5-D60EC9DA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7714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LITERATURA I IZVORI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101D7-E674-3578-2F15-11A0A84D3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857828"/>
            <a:ext cx="10353762" cy="4397829"/>
          </a:xfrm>
        </p:spPr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Knjige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Learning, Pattern Recognition, Forecasting: Principles and Practice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1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Naučni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LSTM (Hochreiter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Matplotlib, Pandas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100" indent="-4572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Python, NumPy, Scikit-learn, TensorFlow,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41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Wikipedia, Towards Data Science</a:t>
            </a:r>
          </a:p>
        </p:txBody>
      </p:sp>
    </p:spTree>
    <p:extLst>
      <p:ext uri="{BB962C8B-B14F-4D97-AF65-F5344CB8AC3E}">
        <p14:creationId xmlns:p14="http://schemas.microsoft.com/office/powerpoint/2010/main" val="425061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B7B1-7747-622D-CD66-B542FEDEB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11547"/>
            <a:ext cx="10353762" cy="970450"/>
          </a:xfrm>
        </p:spPr>
        <p:txBody>
          <a:bodyPr>
            <a:normAutofit/>
          </a:bodyPr>
          <a:lstStyle/>
          <a:p>
            <a:r>
              <a:rPr lang="sr-Latn-R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HVALA NA PAŽNJI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779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643</TotalTime>
  <Words>525</Words>
  <Application>Microsoft Office PowerPoint</Application>
  <PresentationFormat>Widescreen</PresentationFormat>
  <Paragraphs>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Calisto MT</vt:lpstr>
      <vt:lpstr>Times New Roman</vt:lpstr>
      <vt:lpstr>Wingdings 2</vt:lpstr>
      <vt:lpstr>Slate</vt:lpstr>
      <vt:lpstr>PAMETNI SISTEM ZA PRAĆENJE I OPTIMIZACIJU BUDŽETA</vt:lpstr>
      <vt:lpstr>MOTIVACIJA I PROBLEM</vt:lpstr>
      <vt:lpstr>OPIS REŠENJA</vt:lpstr>
      <vt:lpstr>TEHNOLOGIJE I ARHITEKTURA</vt:lpstr>
      <vt:lpstr>STATISTIKA GRESKE</vt:lpstr>
      <vt:lpstr>IZBOR ARHITEKTURE</vt:lpstr>
      <vt:lpstr>SIMULACIJA: SINGLE-MODEL</vt:lpstr>
      <vt:lpstr>SIMULACIJA: MULTI-MODEL</vt:lpstr>
      <vt:lpstr>SIMULATE PREDIKCIJA</vt:lpstr>
      <vt:lpstr>PREDNOSTI REŠENJA</vt:lpstr>
      <vt:lpstr>OGRANIČENJA I BUDUĆI RAD</vt:lpstr>
      <vt:lpstr>ZAKLJUČAK</vt:lpstr>
      <vt:lpstr>LITERATURA I IZVORI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PAMETNI SISTEM ZA PRAĆENJE I OPTIMIZACIJU BUDŽETA</dc:title>
  <dc:creator>Bojan Boxon Mitic</dc:creator>
  <cp:lastModifiedBy>Int5629</cp:lastModifiedBy>
  <cp:revision>63</cp:revision>
  <dcterms:created xsi:type="dcterms:W3CDTF">2026-01-17T18:29:52Z</dcterms:created>
  <dcterms:modified xsi:type="dcterms:W3CDTF">2026-02-27T10:42:14Z</dcterms:modified>
</cp:coreProperties>
</file>