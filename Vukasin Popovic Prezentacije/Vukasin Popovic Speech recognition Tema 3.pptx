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77" r:id="rId11"/>
    <p:sldId id="275" r:id="rId12"/>
    <p:sldId id="27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6677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413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23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03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8280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413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5047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20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225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1505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8747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46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38091-97C3-2BE3-A213-3AE085716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/>
              <a:t>Speech recognition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16450-98CA-B12C-6E7A-72E533E6A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/>
              <a:t>Analiza dostupnih izvora podataka za speech recognition</a:t>
            </a:r>
            <a:endParaRPr lang="en-GB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CC9BA88-8365-9714-595A-669187529690}"/>
              </a:ext>
            </a:extLst>
          </p:cNvPr>
          <p:cNvSpPr txBox="1">
            <a:spLocks/>
          </p:cNvSpPr>
          <p:nvPr/>
        </p:nvSpPr>
        <p:spPr>
          <a:xfrm>
            <a:off x="1261872" y="5461959"/>
            <a:ext cx="9418320" cy="1691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200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r-Latn-RS"/>
              <a:t>Student:						      Mentor:</a:t>
            </a:r>
          </a:p>
          <a:p>
            <a:r>
              <a:rPr lang="sr-Latn-RS"/>
              <a:t>Vukašin Popović					      Leonid Stoimenov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8928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C14C3-907E-29AC-F95C-1669C16C5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Uvod u prepoznavanje govora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2D52-3A99-FA6E-BFEE-88EAD6D94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/>
              <a:t>Prepoznavanje govora (Speech Recognition) je oblast veštačke inteligencije koja omogućava računarima da razumeju i transkribuju ljudski govor.</a:t>
            </a:r>
            <a:endParaRPr lang="sr-Latn-RS" sz="2400"/>
          </a:p>
          <a:p>
            <a:r>
              <a:rPr lang="en-GB" sz="2400"/>
              <a:t>Predstavlja osnovu glasovnih asistenata i govornih interfejsa.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4293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BB7EB-D298-660D-2528-7AE872626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Zašto su podaci ključni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F21F9-1943-FD40-00A7-076C1EC95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sz="2400"/>
              <a:t>Kvalitet sistema za prepoznavanje govora direktno zavisi od:</a:t>
            </a:r>
            <a:endParaRPr lang="sr-Latn-RS" sz="2400"/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/>
              <a:t>količine podataka</a:t>
            </a:r>
            <a:endParaRPr lang="sr-Latn-RS" sz="2200"/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/>
              <a:t>kvaliteta snimaka</a:t>
            </a:r>
            <a:endParaRPr lang="sr-Latn-RS" sz="2200"/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/>
              <a:t>raznovrsnosti govornika</a:t>
            </a:r>
            <a:endParaRPr lang="sr-Latn-RS" sz="2200"/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/>
              <a:t>jezika i dijalekata</a:t>
            </a:r>
            <a:endParaRPr lang="sr-Latn-RS" sz="2200"/>
          </a:p>
          <a:p>
            <a:pPr>
              <a:buFont typeface="Arial" panose="020B0604020202020204" pitchFamily="34" charset="0"/>
              <a:buChar char="•"/>
            </a:pPr>
            <a:r>
              <a:rPr lang="pl-PL" sz="2400"/>
              <a:t>Bez kvalitetnih podataka, modeli ne mogu postići dobre rezultate.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5714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8F220-DF98-3CF3-C00E-58730570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Vrste podataka u prepoznavanju govora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B91CD-BB4F-A831-42DD-37309A16F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2400"/>
              <a:t>Podaci za Speech Recognition obuhvataju:</a:t>
            </a:r>
          </a:p>
          <a:p>
            <a:pPr lvl="1"/>
            <a:r>
              <a:rPr lang="en-GB" sz="2200"/>
              <a:t>audio zapise govora</a:t>
            </a:r>
            <a:endParaRPr lang="pl-PL" sz="2200"/>
          </a:p>
          <a:p>
            <a:pPr lvl="1"/>
            <a:r>
              <a:rPr lang="en-GB" sz="2200"/>
              <a:t>tekstualne transkripte</a:t>
            </a:r>
            <a:endParaRPr lang="pl-PL" sz="2200"/>
          </a:p>
          <a:p>
            <a:pPr lvl="1"/>
            <a:r>
              <a:rPr lang="en-GB" sz="2200"/>
              <a:t>metapodatke (pol, akcenat, okruženje)</a:t>
            </a:r>
            <a:endParaRPr lang="pl-PL" sz="2200"/>
          </a:p>
          <a:p>
            <a:r>
              <a:rPr lang="it-IT" sz="2400"/>
              <a:t>Ovi podaci se koriste za treniranje i evaluaciju modela.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882435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A0633-AEA7-2952-D5E4-2CC3F220C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Audio podaci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7C638-5F71-23A7-7EA5-6E2D5A4F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Audio zapisi mogu biti:</a:t>
            </a:r>
            <a:endParaRPr lang="sr-Latn-RS" sz="2400"/>
          </a:p>
          <a:p>
            <a:pPr lvl="1"/>
            <a:r>
              <a:rPr lang="en-GB" sz="2800"/>
              <a:t>studijski snimljeni</a:t>
            </a:r>
            <a:endParaRPr lang="sr-Latn-RS" sz="2800"/>
          </a:p>
          <a:p>
            <a:pPr lvl="1"/>
            <a:r>
              <a:rPr lang="en-GB" sz="2800"/>
              <a:t>snimani u realnom okruženju</a:t>
            </a:r>
            <a:endParaRPr lang="sr-Latn-RS" sz="2800"/>
          </a:p>
          <a:p>
            <a:pPr lvl="1"/>
            <a:r>
              <a:rPr lang="en-GB" sz="2800"/>
              <a:t>čisti ili sa šumom</a:t>
            </a:r>
            <a:endParaRPr lang="sr-Latn-RS" sz="2200"/>
          </a:p>
          <a:p>
            <a:r>
              <a:rPr lang="nn-NO" sz="2400"/>
              <a:t>Format audio zapisa (WAV, FLAC) i frekvencija uzorkovanja su veoma važni.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2198624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F7CAD-8B4C-1285-8CC2-3570580B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Transkripcija govora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8F25E-C058-2DA6-51EF-6F9F06158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Transkripcija predstavlja tekstualni zapis govora.</a:t>
            </a:r>
            <a:endParaRPr lang="sr-Latn-RS" sz="2400"/>
          </a:p>
          <a:p>
            <a:r>
              <a:rPr lang="en-GB" sz="2400"/>
              <a:t>Može biti:</a:t>
            </a:r>
            <a:endParaRPr lang="sr-Latn-RS" sz="2400"/>
          </a:p>
          <a:p>
            <a:pPr lvl="1"/>
            <a:r>
              <a:rPr lang="en-GB" sz="2400"/>
              <a:t>ručno rađena (preciznija)</a:t>
            </a:r>
            <a:endParaRPr lang="sr-Latn-RS" sz="2400"/>
          </a:p>
          <a:p>
            <a:pPr lvl="1"/>
            <a:r>
              <a:rPr lang="en-GB" sz="2400"/>
              <a:t>automatski generisana (brža)</a:t>
            </a:r>
            <a:endParaRPr lang="sr-Latn-RS" sz="2400"/>
          </a:p>
          <a:p>
            <a:r>
              <a:rPr lang="en-GB" sz="2400"/>
              <a:t>Kvalitet transkripcije direktno utiče na tačnost modela.</a:t>
            </a:r>
          </a:p>
        </p:txBody>
      </p:sp>
    </p:spTree>
    <p:extLst>
      <p:ext uri="{BB962C8B-B14F-4D97-AF65-F5344CB8AC3E}">
        <p14:creationId xmlns:p14="http://schemas.microsoft.com/office/powerpoint/2010/main" val="518473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4943-34C1-C6F6-46D9-0256C5BB8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Označavanje i anotacija podataka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34B29-D8D9-3BE4-0810-94F4A491B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 err="1"/>
              <a:t>Anotacija</a:t>
            </a:r>
            <a:r>
              <a:rPr lang="en-GB" sz="2400" dirty="0"/>
              <a:t> </a:t>
            </a:r>
            <a:r>
              <a:rPr lang="en-GB" sz="2400" dirty="0" err="1"/>
              <a:t>podataka</a:t>
            </a:r>
            <a:r>
              <a:rPr lang="en-GB" sz="2400" dirty="0"/>
              <a:t> </a:t>
            </a:r>
            <a:r>
              <a:rPr lang="en-GB" sz="2400" dirty="0" err="1"/>
              <a:t>uključuje</a:t>
            </a:r>
            <a:r>
              <a:rPr lang="en-GB" sz="2400" dirty="0"/>
              <a:t>:</a:t>
            </a:r>
            <a:endParaRPr lang="sr-Latn-RS" sz="2400" dirty="0"/>
          </a:p>
          <a:p>
            <a:pPr lvl="1"/>
            <a:r>
              <a:rPr lang="en-GB" sz="2400" dirty="0" err="1"/>
              <a:t>poravnanje</a:t>
            </a:r>
            <a:r>
              <a:rPr lang="en-GB" sz="2400" dirty="0"/>
              <a:t> </a:t>
            </a:r>
            <a:r>
              <a:rPr lang="en-GB" sz="2400" dirty="0" err="1"/>
              <a:t>govora</a:t>
            </a:r>
            <a:r>
              <a:rPr lang="en-GB" sz="2400" dirty="0"/>
              <a:t> </a:t>
            </a:r>
            <a:r>
              <a:rPr lang="en-GB" sz="2400" dirty="0" err="1"/>
              <a:t>i</a:t>
            </a:r>
            <a:r>
              <a:rPr lang="en-GB" sz="2400" dirty="0"/>
              <a:t> </a:t>
            </a:r>
            <a:r>
              <a:rPr lang="en-GB" sz="2400" dirty="0" err="1"/>
              <a:t>teksta</a:t>
            </a:r>
            <a:endParaRPr lang="sr-Latn-RS" sz="2400" dirty="0"/>
          </a:p>
          <a:p>
            <a:pPr lvl="1"/>
            <a:r>
              <a:rPr lang="en-GB" sz="2400" dirty="0" err="1"/>
              <a:t>označavanje</a:t>
            </a:r>
            <a:r>
              <a:rPr lang="en-GB" sz="2400" dirty="0"/>
              <a:t> </a:t>
            </a:r>
            <a:r>
              <a:rPr lang="en-GB" sz="2400" dirty="0" err="1"/>
              <a:t>pauza</a:t>
            </a:r>
            <a:endParaRPr lang="sr-Latn-RS" sz="2400" dirty="0"/>
          </a:p>
          <a:p>
            <a:pPr lvl="1"/>
            <a:r>
              <a:rPr lang="en-GB" sz="2400" dirty="0" err="1"/>
              <a:t>označavanje</a:t>
            </a:r>
            <a:r>
              <a:rPr lang="en-GB" sz="2400" dirty="0"/>
              <a:t> </a:t>
            </a:r>
            <a:r>
              <a:rPr lang="en-GB" sz="2400" dirty="0" err="1"/>
              <a:t>govornika</a:t>
            </a:r>
            <a:endParaRPr lang="sr-Latn-RS" sz="2400" dirty="0"/>
          </a:p>
          <a:p>
            <a:r>
              <a:rPr lang="pl-PL" sz="2400" dirty="0"/>
              <a:t>Ovo je jedan od najskupljih i najsporijih procesa u izradi dataset-a.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48730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7645B-B86B-882D-5225-61E38303E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Javni (open-source) izvori podataka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0BE1E-E56F-1792-BBBA-1588E08CC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GB" sz="2400"/>
              <a:t>Postoji veliki broj javno dostupnih dataset-a za prepoznavanje govora.</a:t>
            </a:r>
            <a:endParaRPr lang="sr-Latn-RS" sz="2400"/>
          </a:p>
          <a:p>
            <a:r>
              <a:rPr lang="en-GB" sz="2400"/>
              <a:t>Oni su besplatni i često korišćeni u istraživanju i edukaciji.</a:t>
            </a:r>
          </a:p>
        </p:txBody>
      </p:sp>
    </p:spTree>
    <p:extLst>
      <p:ext uri="{BB962C8B-B14F-4D97-AF65-F5344CB8AC3E}">
        <p14:creationId xmlns:p14="http://schemas.microsoft.com/office/powerpoint/2010/main" val="3208852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76E85-E00E-D586-DE21-5401B945A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Industrijski i komercijalni izvori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0C052-B698-0216-32D9-02C0AC75A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Velike kompanije koriste:</a:t>
            </a:r>
            <a:endParaRPr lang="sr-Latn-RS" sz="2400"/>
          </a:p>
          <a:p>
            <a:pPr lvl="1"/>
            <a:r>
              <a:rPr lang="en-GB" sz="2400"/>
              <a:t>privatne dataset-e</a:t>
            </a:r>
            <a:endParaRPr lang="sr-Latn-RS" sz="2400"/>
          </a:p>
          <a:p>
            <a:pPr lvl="1"/>
            <a:r>
              <a:rPr lang="en-GB" sz="2400"/>
              <a:t>snimke korisničkih interakcija</a:t>
            </a:r>
            <a:endParaRPr lang="sr-Latn-RS" sz="2400"/>
          </a:p>
          <a:p>
            <a:pPr lvl="1"/>
            <a:r>
              <a:rPr lang="en-GB" sz="2400"/>
              <a:t>podatke iz call centara</a:t>
            </a:r>
            <a:endParaRPr lang="sr-Latn-RS" sz="2400"/>
          </a:p>
          <a:p>
            <a:r>
              <a:rPr lang="en-GB" sz="2400"/>
              <a:t>Ovi podaci često nisu javno dostupni zbog privatnosti.</a:t>
            </a:r>
          </a:p>
        </p:txBody>
      </p:sp>
    </p:spTree>
    <p:extLst>
      <p:ext uri="{BB962C8B-B14F-4D97-AF65-F5344CB8AC3E}">
        <p14:creationId xmlns:p14="http://schemas.microsoft.com/office/powerpoint/2010/main" val="2676000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7E11-8401-F21F-7062-738A73A8E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Najpoznatiji javni dataset-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48B11-A7E1-4A9D-CD60-B5B8F553F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LibriSpeech – čisti, engleski govor</a:t>
            </a:r>
          </a:p>
          <a:p>
            <a:r>
              <a:rPr lang="en-US" sz="2400" dirty="0"/>
              <a:t>Common Voice (Mozilla) – više jezika i akcenata</a:t>
            </a:r>
          </a:p>
          <a:p>
            <a:r>
              <a:rPr lang="en-US" sz="2400" dirty="0"/>
              <a:t>TED-LIUM – javni govori</a:t>
            </a:r>
          </a:p>
          <a:p>
            <a:r>
              <a:rPr lang="en-US" sz="2400" dirty="0"/>
              <a:t>Switchboard – spontani telefonski razgovori</a:t>
            </a:r>
          </a:p>
        </p:txBody>
      </p:sp>
    </p:spTree>
    <p:extLst>
      <p:ext uri="{BB962C8B-B14F-4D97-AF65-F5344CB8AC3E}">
        <p14:creationId xmlns:p14="http://schemas.microsoft.com/office/powerpoint/2010/main" val="3308977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C6D56-A459-9DD6-C24F-2C9E1FA2F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Zaključak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CAFF4-F9DE-D853-B8FF-B8252CEC2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Izvori podataka su ključni faktor uspeha sistema za prepoznavanje govora.</a:t>
            </a:r>
            <a:endParaRPr lang="sr-Latn-RS" sz="2400"/>
          </a:p>
          <a:p>
            <a:r>
              <a:rPr lang="en-GB" sz="2400"/>
              <a:t>Javni dataset-i omogućavaju istraživanje i razvoj.</a:t>
            </a:r>
            <a:endParaRPr lang="sr-Latn-RS" sz="2400"/>
          </a:p>
          <a:p>
            <a:r>
              <a:rPr lang="en-GB" sz="2400"/>
              <a:t>Ipak, kvalitet, raznovrsnost i etički aspekti ostaju veliki izazovi u ovoj oblasti.</a:t>
            </a:r>
          </a:p>
        </p:txBody>
      </p:sp>
    </p:spTree>
    <p:extLst>
      <p:ext uri="{BB962C8B-B14F-4D97-AF65-F5344CB8AC3E}">
        <p14:creationId xmlns:p14="http://schemas.microsoft.com/office/powerpoint/2010/main" val="549290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38091-97C3-2BE3-A213-3AE085716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lang="sr-Latn-RS"/>
              <a:t>Hvala na pažnji!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807320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49</TotalTime>
  <Words>337</Words>
  <Application>Microsoft Office PowerPoint</Application>
  <PresentationFormat>Widescreen</PresentationFormat>
  <Paragraphs>57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Century Schoolbook</vt:lpstr>
      <vt:lpstr>Wingdings 2</vt:lpstr>
      <vt:lpstr>View</vt:lpstr>
      <vt:lpstr>Speech recognition</vt:lpstr>
      <vt:lpstr>Uvod u prepoznavanje govora</vt:lpstr>
      <vt:lpstr>Zašto su podaci ključni</vt:lpstr>
      <vt:lpstr>Vrste podataka u prepoznavanju govora</vt:lpstr>
      <vt:lpstr>Audio podaci</vt:lpstr>
      <vt:lpstr>Transkripcija govora</vt:lpstr>
      <vt:lpstr>Označavanje i anotacija podataka</vt:lpstr>
      <vt:lpstr>Javni (open-source) izvori podataka</vt:lpstr>
      <vt:lpstr>Industrijski i komercijalni izvori</vt:lpstr>
      <vt:lpstr>Najpoznatiji javni dataset-i</vt:lpstr>
      <vt:lpstr>Zaključak</vt:lpstr>
      <vt:lpstr>Hvala na pažnji!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Int5629</dc:creator>
  <cp:lastModifiedBy>Vukasin Popovic</cp:lastModifiedBy>
  <cp:revision>40</cp:revision>
  <dcterms:created xsi:type="dcterms:W3CDTF">2026-01-13T07:06:16Z</dcterms:created>
  <dcterms:modified xsi:type="dcterms:W3CDTF">2026-01-26T08:34:25Z</dcterms:modified>
</cp:coreProperties>
</file>