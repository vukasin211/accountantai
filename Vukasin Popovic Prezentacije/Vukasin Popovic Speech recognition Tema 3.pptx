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D05B0792-8DCF-49E3-8199-5C19347ED2C6}" type="datetimeFigureOut">
              <a:rPr lang="en-GB" smtClean="0"/>
              <a:t>13.01.2026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ECCE8FE4-02D7-482E-BD45-905B64EDB5B6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926677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B0792-8DCF-49E3-8199-5C19347ED2C6}" type="datetimeFigureOut">
              <a:rPr lang="en-GB" smtClean="0"/>
              <a:t>13.01.2026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8FE4-02D7-482E-BD45-905B64EDB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4136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B0792-8DCF-49E3-8199-5C19347ED2C6}" type="datetimeFigureOut">
              <a:rPr lang="en-GB" smtClean="0"/>
              <a:t>13.01.2026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8FE4-02D7-482E-BD45-905B64EDB5B6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2623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B0792-8DCF-49E3-8199-5C19347ED2C6}" type="datetimeFigureOut">
              <a:rPr lang="en-GB" smtClean="0"/>
              <a:t>13.01.2026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8FE4-02D7-482E-BD45-905B64EDB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1037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B0792-8DCF-49E3-8199-5C19347ED2C6}" type="datetimeFigureOut">
              <a:rPr lang="en-GB" smtClean="0"/>
              <a:t>13.01.2026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8FE4-02D7-482E-BD45-905B64EDB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8280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B0792-8DCF-49E3-8199-5C19347ED2C6}" type="datetimeFigureOut">
              <a:rPr lang="en-GB" smtClean="0"/>
              <a:t>13.01.2026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8FE4-02D7-482E-BD45-905B64EDB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4136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B0792-8DCF-49E3-8199-5C19347ED2C6}" type="datetimeFigureOut">
              <a:rPr lang="en-GB" smtClean="0"/>
              <a:t>13.01.2026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8FE4-02D7-482E-BD45-905B64EDB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5047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B0792-8DCF-49E3-8199-5C19347ED2C6}" type="datetimeFigureOut">
              <a:rPr lang="en-GB" smtClean="0"/>
              <a:t>13.01.2026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8FE4-02D7-482E-BD45-905B64EDB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220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B0792-8DCF-49E3-8199-5C19347ED2C6}" type="datetimeFigureOut">
              <a:rPr lang="en-GB" smtClean="0"/>
              <a:t>13.01.2026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8FE4-02D7-482E-BD45-905B64EDB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2254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B0792-8DCF-49E3-8199-5C19347ED2C6}" type="datetimeFigureOut">
              <a:rPr lang="en-GB" smtClean="0"/>
              <a:t>13.01.2026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8FE4-02D7-482E-BD45-905B64EDB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1505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B0792-8DCF-49E3-8199-5C19347ED2C6}" type="datetimeFigureOut">
              <a:rPr lang="en-GB" smtClean="0"/>
              <a:t>13.01.2026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E8FE4-02D7-482E-BD45-905B64EDB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8747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D05B0792-8DCF-49E3-8199-5C19347ED2C6}" type="datetimeFigureOut">
              <a:rPr lang="en-GB" smtClean="0"/>
              <a:t>13.01.2026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ECCE8FE4-02D7-482E-BD45-905B64EDB5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467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38091-97C3-2BE3-A213-3AE0857169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/>
              <a:t>Speech recognition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D16450-98CA-B12C-6E7A-72E533E6AD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/>
              <a:t>Analiza dostupnih izvora podataka za speech recognition</a:t>
            </a:r>
            <a:endParaRPr lang="en-GB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CC9BA88-8365-9714-595A-669187529690}"/>
              </a:ext>
            </a:extLst>
          </p:cNvPr>
          <p:cNvSpPr txBox="1">
            <a:spLocks/>
          </p:cNvSpPr>
          <p:nvPr/>
        </p:nvSpPr>
        <p:spPr>
          <a:xfrm>
            <a:off x="1261872" y="5461959"/>
            <a:ext cx="9418320" cy="1691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r-Latn-RS"/>
              <a:t>Student:						      Mentor:</a:t>
            </a:r>
          </a:p>
          <a:p>
            <a:r>
              <a:rPr lang="sr-Latn-RS"/>
              <a:t>Vukašin Popović					      Leonid Stoimenov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928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C14C3-907E-29AC-F95C-1669C16C5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Uvod u prepoznavanje govora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C2D52-3A99-FA6E-BFEE-88EAD6D94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/>
              <a:t>Prepoznavanje govora (Speech Recognition) je oblast veštačke inteligencije koja omogućava računarima da razumeju i transkribuju ljudski govor.</a:t>
            </a:r>
            <a:endParaRPr lang="sr-Latn-RS" sz="2400"/>
          </a:p>
          <a:p>
            <a:r>
              <a:rPr lang="en-GB" sz="2400"/>
              <a:t>Predstavlja osnovu glasovnih asistenata i govornih interfejsa.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4293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BB7EB-D298-660D-2528-7AE872626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Zašto su podaci ključni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F21F9-1943-FD40-00A7-076C1EC95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400"/>
              <a:t>Kvalitet sistema za prepoznavanje govora direktno zavisi od:</a:t>
            </a:r>
            <a:endParaRPr lang="sr-Latn-RS" sz="2400"/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/>
              <a:t>količine podataka</a:t>
            </a:r>
            <a:endParaRPr lang="sr-Latn-RS" sz="2200"/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/>
              <a:t>kvaliteta snimaka</a:t>
            </a:r>
            <a:endParaRPr lang="sr-Latn-RS" sz="2200"/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/>
              <a:t>raznovrsnosti govornika</a:t>
            </a:r>
            <a:endParaRPr lang="sr-Latn-RS" sz="2200"/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/>
              <a:t>jezika i dijalekata</a:t>
            </a:r>
            <a:endParaRPr lang="sr-Latn-RS" sz="2200"/>
          </a:p>
          <a:p>
            <a:pPr>
              <a:buFont typeface="Arial" panose="020B0604020202020204" pitchFamily="34" charset="0"/>
              <a:buChar char="•"/>
            </a:pPr>
            <a:r>
              <a:rPr lang="pl-PL" sz="2400"/>
              <a:t>Bez kvalitetnih podataka, modeli ne mogu postići dobre rezultate.</a:t>
            </a: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571451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8F220-DF98-3CF3-C00E-587305706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Vrste podataka u prepoznavanju govora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B91CD-BB4F-A831-42DD-37309A16F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2400"/>
              <a:t>Podaci za Speech Recognition obuhvataju:</a:t>
            </a:r>
          </a:p>
          <a:p>
            <a:pPr lvl="1"/>
            <a:r>
              <a:rPr lang="en-GB" sz="2200"/>
              <a:t>audio zapise govora</a:t>
            </a:r>
            <a:endParaRPr lang="pl-PL" sz="2200"/>
          </a:p>
          <a:p>
            <a:pPr lvl="1"/>
            <a:r>
              <a:rPr lang="en-GB" sz="2200"/>
              <a:t>tekstualne transkripte</a:t>
            </a:r>
            <a:endParaRPr lang="pl-PL" sz="2200"/>
          </a:p>
          <a:p>
            <a:pPr lvl="1"/>
            <a:r>
              <a:rPr lang="en-GB" sz="2200"/>
              <a:t>metapodatke (pol, akcenat, okruženje)</a:t>
            </a:r>
            <a:endParaRPr lang="pl-PL" sz="2200"/>
          </a:p>
          <a:p>
            <a:r>
              <a:rPr lang="it-IT" sz="2400"/>
              <a:t>Ovi podaci se koriste za treniranje i evaluaciju modela.</a:t>
            </a: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882435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A0633-AEA7-2952-D5E4-2CC3F220C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Audio podaci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7C638-5F71-23A7-7EA5-6E2D5A4F0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Audio zapisi mogu biti:</a:t>
            </a:r>
            <a:endParaRPr lang="sr-Latn-RS" sz="2400"/>
          </a:p>
          <a:p>
            <a:pPr lvl="1"/>
            <a:r>
              <a:rPr lang="en-GB" sz="2800"/>
              <a:t>studijski snimljeni</a:t>
            </a:r>
            <a:endParaRPr lang="sr-Latn-RS" sz="2800"/>
          </a:p>
          <a:p>
            <a:pPr lvl="1"/>
            <a:r>
              <a:rPr lang="en-GB" sz="2800"/>
              <a:t>snimani u realnom okruženju</a:t>
            </a:r>
            <a:endParaRPr lang="sr-Latn-RS" sz="2800"/>
          </a:p>
          <a:p>
            <a:pPr lvl="1"/>
            <a:r>
              <a:rPr lang="en-GB" sz="2800"/>
              <a:t>čisti ili sa šumom</a:t>
            </a:r>
            <a:endParaRPr lang="sr-Latn-RS" sz="2200"/>
          </a:p>
          <a:p>
            <a:r>
              <a:rPr lang="nn-NO" sz="2400"/>
              <a:t>Format audio zapisa (WAV, FLAC) i frekvencija uzorkovanja su veoma važni.</a:t>
            </a: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2198624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F7CAD-8B4C-1285-8CC2-3570580BA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Transkripcija govora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8F25E-C058-2DA6-51EF-6F9F06158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Transkripcija predstavlja tekstualni zapis govora.</a:t>
            </a:r>
            <a:endParaRPr lang="sr-Latn-RS" sz="2400"/>
          </a:p>
          <a:p>
            <a:r>
              <a:rPr lang="en-GB" sz="2400"/>
              <a:t>Može biti:</a:t>
            </a:r>
            <a:endParaRPr lang="sr-Latn-RS" sz="2400"/>
          </a:p>
          <a:p>
            <a:pPr lvl="1"/>
            <a:r>
              <a:rPr lang="en-GB" sz="2400"/>
              <a:t>ručno rađena (preciznija)</a:t>
            </a:r>
            <a:endParaRPr lang="sr-Latn-RS" sz="2400"/>
          </a:p>
          <a:p>
            <a:pPr lvl="1"/>
            <a:r>
              <a:rPr lang="en-GB" sz="2400"/>
              <a:t>automatski generisana (brža)</a:t>
            </a:r>
            <a:endParaRPr lang="sr-Latn-RS" sz="2400"/>
          </a:p>
          <a:p>
            <a:r>
              <a:rPr lang="en-GB" sz="2400"/>
              <a:t>Kvalitet transkripcije direktno utiče na tačnost modela.</a:t>
            </a:r>
          </a:p>
        </p:txBody>
      </p:sp>
    </p:spTree>
    <p:extLst>
      <p:ext uri="{BB962C8B-B14F-4D97-AF65-F5344CB8AC3E}">
        <p14:creationId xmlns:p14="http://schemas.microsoft.com/office/powerpoint/2010/main" val="518473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64943-34C1-C6F6-46D9-0256C5BB8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Označavanje i anotacija podataka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34B29-D8D9-3BE4-0810-94F4A491B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Anotacija podataka uključuje:</a:t>
            </a:r>
            <a:endParaRPr lang="sr-Latn-RS" sz="2400"/>
          </a:p>
          <a:p>
            <a:pPr lvl="1"/>
            <a:r>
              <a:rPr lang="en-GB" sz="2400"/>
              <a:t>poravnanje govora i teksta</a:t>
            </a:r>
            <a:endParaRPr lang="sr-Latn-RS" sz="2400"/>
          </a:p>
          <a:p>
            <a:pPr lvl="1"/>
            <a:r>
              <a:rPr lang="en-GB" sz="2400"/>
              <a:t>označavanje pauza</a:t>
            </a:r>
            <a:endParaRPr lang="sr-Latn-RS" sz="2400"/>
          </a:p>
          <a:p>
            <a:pPr lvl="1"/>
            <a:r>
              <a:rPr lang="en-GB" sz="2400"/>
              <a:t>označavanje govornika</a:t>
            </a:r>
            <a:endParaRPr lang="sr-Latn-RS" sz="2400"/>
          </a:p>
          <a:p>
            <a:r>
              <a:rPr lang="pl-PL" sz="2400"/>
              <a:t>Ovo je jedan od najskupljih i najsporijih procesa u izradi dataset-a.</a:t>
            </a:r>
            <a:endParaRPr lang="en-GB" sz="2400" b="1"/>
          </a:p>
        </p:txBody>
      </p:sp>
    </p:spTree>
    <p:extLst>
      <p:ext uri="{BB962C8B-B14F-4D97-AF65-F5344CB8AC3E}">
        <p14:creationId xmlns:p14="http://schemas.microsoft.com/office/powerpoint/2010/main" val="348730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7645B-B86B-882D-5225-61E38303E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Javni (open-source) izvori podataka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0BE1E-E56F-1792-BBBA-1588E08CC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400"/>
              <a:t>Postoji veliki broj javno dostupnih dataset-a za prepoznavanje govora.</a:t>
            </a:r>
            <a:endParaRPr lang="sr-Latn-RS" sz="2400"/>
          </a:p>
          <a:p>
            <a:r>
              <a:rPr lang="en-GB" sz="2400"/>
              <a:t>Oni su besplatni i često korišćeni u istraživanju i edukaciji.</a:t>
            </a:r>
          </a:p>
        </p:txBody>
      </p:sp>
    </p:spTree>
    <p:extLst>
      <p:ext uri="{BB962C8B-B14F-4D97-AF65-F5344CB8AC3E}">
        <p14:creationId xmlns:p14="http://schemas.microsoft.com/office/powerpoint/2010/main" val="3208852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2EDED-5C40-2AD3-6CA2-AD78DD6CD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LibriSpeech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9A75D-1680-258D-28C9-0BA32BA36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2400"/>
              <a:t>LibriSpeech je jedan od najpoznatijih dataset-a.</a:t>
            </a:r>
          </a:p>
          <a:p>
            <a:r>
              <a:rPr lang="pl-PL" sz="2400"/>
              <a:t>Sadrži:</a:t>
            </a:r>
          </a:p>
          <a:p>
            <a:pPr lvl="1"/>
            <a:r>
              <a:rPr lang="en-GB" sz="2400"/>
              <a:t>hiljade sati govora</a:t>
            </a:r>
            <a:endParaRPr lang="sr-Latn-RS" sz="2400"/>
          </a:p>
          <a:p>
            <a:pPr lvl="1"/>
            <a:r>
              <a:rPr lang="en-GB" sz="2400"/>
              <a:t>engleski jezik</a:t>
            </a:r>
            <a:endParaRPr lang="sr-Latn-RS" sz="2400"/>
          </a:p>
          <a:p>
            <a:pPr lvl="1"/>
            <a:r>
              <a:rPr lang="en-GB" sz="2400"/>
              <a:t>audio knjige čitane naglas</a:t>
            </a:r>
            <a:endParaRPr lang="pl-PL" sz="2400"/>
          </a:p>
          <a:p>
            <a:r>
              <a:rPr lang="en-GB" sz="2400"/>
              <a:t>Često se koristi kao standard za poređenje modela.</a:t>
            </a:r>
          </a:p>
        </p:txBody>
      </p:sp>
    </p:spTree>
    <p:extLst>
      <p:ext uri="{BB962C8B-B14F-4D97-AF65-F5344CB8AC3E}">
        <p14:creationId xmlns:p14="http://schemas.microsoft.com/office/powerpoint/2010/main" val="1249922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C0CD5-4C86-27D2-74D5-BC1C1C668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Common Voice (Mozilla)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8FF6F-C0B1-CE77-D437-D881204AF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Common Voice je projekat kompanije Mozilla.</a:t>
            </a:r>
            <a:endParaRPr lang="sr-Latn-RS" sz="2400"/>
          </a:p>
          <a:p>
            <a:r>
              <a:rPr lang="en-GB" sz="2400"/>
              <a:t>Karakteristike:</a:t>
            </a:r>
            <a:endParaRPr lang="sr-Latn-RS" sz="2400"/>
          </a:p>
          <a:p>
            <a:pPr lvl="1"/>
            <a:r>
              <a:rPr lang="en-GB" sz="2400"/>
              <a:t>veliki broj jezika</a:t>
            </a:r>
            <a:endParaRPr lang="sr-Latn-RS" sz="2400"/>
          </a:p>
          <a:p>
            <a:pPr lvl="1"/>
            <a:r>
              <a:rPr lang="en-GB" sz="2400"/>
              <a:t>podaci prikupljeni od volontera</a:t>
            </a:r>
            <a:endParaRPr lang="sr-Latn-RS" sz="2400"/>
          </a:p>
          <a:p>
            <a:pPr lvl="1"/>
            <a:r>
              <a:rPr lang="it-IT" sz="2400"/>
              <a:t>razni akcenti i stilovi govora</a:t>
            </a:r>
            <a:endParaRPr lang="sr-Latn-RS" sz="2400"/>
          </a:p>
          <a:p>
            <a:r>
              <a:rPr lang="pl-PL" sz="2400"/>
              <a:t>Posebno je značajan za manje zastupljene jezike.</a:t>
            </a: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80387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245BD-46E6-4CE2-4F09-A4A7AA1FF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TED-LIUM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915AE-B8A0-09D4-7BEC-E2201E091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TED-LIUM sadrži:</a:t>
            </a:r>
            <a:endParaRPr lang="sr-Latn-RS" sz="2400"/>
          </a:p>
          <a:p>
            <a:pPr lvl="1"/>
            <a:r>
              <a:rPr lang="en-GB" sz="2400"/>
              <a:t>snimke TED govora</a:t>
            </a:r>
            <a:endParaRPr lang="sr-Latn-RS" sz="2400"/>
          </a:p>
          <a:p>
            <a:pPr lvl="1"/>
            <a:r>
              <a:rPr lang="en-GB" sz="2400"/>
              <a:t>profesionalne govornike</a:t>
            </a:r>
            <a:endParaRPr lang="sr-Latn-RS" sz="2400"/>
          </a:p>
          <a:p>
            <a:pPr lvl="1"/>
            <a:r>
              <a:rPr lang="en-GB" sz="2400"/>
              <a:t>kvalitetne transkripcije</a:t>
            </a:r>
            <a:endParaRPr lang="sr-Latn-RS" sz="2400"/>
          </a:p>
          <a:p>
            <a:r>
              <a:rPr lang="pl-PL" sz="2400"/>
              <a:t>Koristi se za prepoznavanje govora u javnim nastupima.</a:t>
            </a: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2098747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E6DC2-0813-501D-4A0F-31C815485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Switchboard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32236-4306-2BA3-AC3A-DE2BF967A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Switchboard sadrži:</a:t>
            </a:r>
            <a:endParaRPr lang="sr-Latn-RS" sz="2400"/>
          </a:p>
          <a:p>
            <a:pPr lvl="1"/>
            <a:r>
              <a:rPr lang="en-GB" sz="2400"/>
              <a:t>telefonske razgovore</a:t>
            </a:r>
            <a:endParaRPr lang="sr-Latn-RS" sz="2400"/>
          </a:p>
          <a:p>
            <a:pPr lvl="1"/>
            <a:r>
              <a:rPr lang="en-GB" sz="2400"/>
              <a:t>spontan govor</a:t>
            </a:r>
            <a:endParaRPr lang="sr-Latn-RS" sz="2400"/>
          </a:p>
          <a:p>
            <a:pPr lvl="1"/>
            <a:r>
              <a:rPr lang="en-GB" sz="2400"/>
              <a:t>različite govornike</a:t>
            </a:r>
            <a:endParaRPr lang="sr-Latn-RS" sz="2400"/>
          </a:p>
          <a:p>
            <a:r>
              <a:rPr lang="pl-PL" sz="2400"/>
              <a:t>Ovaj dataset je važan za realne konverzacione sisteme.</a:t>
            </a: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864942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76E85-E00E-D586-DE21-5401B945A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Industrijski i komercijalni izvori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0C052-B698-0216-32D9-02C0AC75A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Velike kompanije koriste:</a:t>
            </a:r>
            <a:endParaRPr lang="sr-Latn-RS" sz="2400"/>
          </a:p>
          <a:p>
            <a:pPr lvl="1"/>
            <a:r>
              <a:rPr lang="en-GB" sz="2400"/>
              <a:t>privatne dataset-e</a:t>
            </a:r>
            <a:endParaRPr lang="sr-Latn-RS" sz="2400"/>
          </a:p>
          <a:p>
            <a:pPr lvl="1"/>
            <a:r>
              <a:rPr lang="en-GB" sz="2400"/>
              <a:t>snimke korisničkih interakcija</a:t>
            </a:r>
            <a:endParaRPr lang="sr-Latn-RS" sz="2400"/>
          </a:p>
          <a:p>
            <a:pPr lvl="1"/>
            <a:r>
              <a:rPr lang="en-GB" sz="2400"/>
              <a:t>podatke iz call centara</a:t>
            </a:r>
            <a:endParaRPr lang="sr-Latn-RS" sz="2400"/>
          </a:p>
          <a:p>
            <a:r>
              <a:rPr lang="en-GB" sz="2400"/>
              <a:t>Ovi podaci često nisu javno dostupni zbog privatnosti.</a:t>
            </a:r>
          </a:p>
        </p:txBody>
      </p:sp>
    </p:spTree>
    <p:extLst>
      <p:ext uri="{BB962C8B-B14F-4D97-AF65-F5344CB8AC3E}">
        <p14:creationId xmlns:p14="http://schemas.microsoft.com/office/powerpoint/2010/main" val="2676000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DF166-7193-DA31-8928-9F6BF204B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Prikupljanje sopstvenih podataka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9374C-BD28-3E19-2266-B5A364D31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Organizacije često prikupljaju sopstvene podatke:</a:t>
            </a:r>
            <a:endParaRPr lang="sr-Latn-RS" sz="2400"/>
          </a:p>
          <a:p>
            <a:pPr lvl="1"/>
            <a:r>
              <a:rPr lang="en-GB" sz="2400"/>
              <a:t>snimanjem korisnika</a:t>
            </a:r>
            <a:endParaRPr lang="sr-Latn-RS" sz="2400"/>
          </a:p>
          <a:p>
            <a:pPr lvl="1"/>
            <a:r>
              <a:rPr lang="en-GB" sz="2400"/>
              <a:t>mobilnim aplikacijama</a:t>
            </a:r>
            <a:endParaRPr lang="sr-Latn-RS" sz="2400"/>
          </a:p>
          <a:p>
            <a:pPr lvl="1"/>
            <a:r>
              <a:rPr lang="en-GB" sz="2400"/>
              <a:t>pametnim uređajima</a:t>
            </a:r>
            <a:endParaRPr lang="sr-Latn-RS" sz="2400"/>
          </a:p>
          <a:p>
            <a:r>
              <a:rPr lang="en-GB" sz="2400"/>
              <a:t>Ovaj pristup omogućava prilagođavanje specifičnom domenu.</a:t>
            </a:r>
          </a:p>
        </p:txBody>
      </p:sp>
    </p:spTree>
    <p:extLst>
      <p:ext uri="{BB962C8B-B14F-4D97-AF65-F5344CB8AC3E}">
        <p14:creationId xmlns:p14="http://schemas.microsoft.com/office/powerpoint/2010/main" val="3732614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8040C-656E-08CF-40FC-7923FEDCA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Etika i privatnost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F8A82-5F0A-31E4-0886-E3D3CE93A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Rad sa govorom podrazumeva osetljive podatke.</a:t>
            </a:r>
            <a:endParaRPr lang="sr-Latn-RS" sz="2400"/>
          </a:p>
          <a:p>
            <a:r>
              <a:rPr lang="en-GB" sz="2400"/>
              <a:t>Važno je obratiti pažnju na:</a:t>
            </a:r>
            <a:endParaRPr lang="sr-Latn-RS" sz="2400"/>
          </a:p>
          <a:p>
            <a:pPr lvl="1"/>
            <a:r>
              <a:rPr lang="sr-Latn-RS" sz="2400"/>
              <a:t>S</a:t>
            </a:r>
            <a:r>
              <a:rPr lang="en-GB" sz="2400"/>
              <a:t>aglasnost korisnika</a:t>
            </a:r>
            <a:endParaRPr lang="sr-Latn-RS" sz="2400"/>
          </a:p>
          <a:p>
            <a:pPr lvl="1"/>
            <a:r>
              <a:rPr lang="en-GB" sz="2400"/>
              <a:t>Anonimnost</a:t>
            </a:r>
            <a:endParaRPr lang="sr-Latn-RS" sz="2400"/>
          </a:p>
          <a:p>
            <a:pPr lvl="1"/>
            <a:r>
              <a:rPr lang="sr-Latn-RS" sz="2400"/>
              <a:t>Z</a:t>
            </a:r>
            <a:r>
              <a:rPr lang="en-GB" sz="2400"/>
              <a:t>aštitu ličnih podataka</a:t>
            </a:r>
            <a:endParaRPr lang="sr-Latn-RS" sz="2400"/>
          </a:p>
          <a:p>
            <a:r>
              <a:rPr lang="en-GB" sz="2400"/>
              <a:t>Zakonski okviri (npr. GDPR) imaju veliki uticaj.</a:t>
            </a:r>
          </a:p>
        </p:txBody>
      </p:sp>
    </p:spTree>
    <p:extLst>
      <p:ext uri="{BB962C8B-B14F-4D97-AF65-F5344CB8AC3E}">
        <p14:creationId xmlns:p14="http://schemas.microsoft.com/office/powerpoint/2010/main" val="230032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50EAE-B2A6-26FA-0693-11001E635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Balans i raznovrsnost podataka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C6BDB-42B0-2C90-48CB-1477B54C8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Kvalitetan dataset mora sadržati:</a:t>
            </a:r>
            <a:endParaRPr lang="sr-Latn-RS" sz="2400"/>
          </a:p>
          <a:p>
            <a:pPr lvl="1"/>
            <a:r>
              <a:rPr lang="en-GB" sz="2400"/>
              <a:t>različite polove</a:t>
            </a:r>
            <a:endParaRPr lang="sr-Latn-RS" sz="2400"/>
          </a:p>
          <a:p>
            <a:pPr lvl="1"/>
            <a:r>
              <a:rPr lang="en-GB" sz="2400"/>
              <a:t>različite uzraste</a:t>
            </a:r>
            <a:endParaRPr lang="sr-Latn-RS" sz="2400"/>
          </a:p>
          <a:p>
            <a:pPr lvl="1"/>
            <a:r>
              <a:rPr lang="en-GB" sz="2400"/>
              <a:t>razne akcente i dijalekte</a:t>
            </a:r>
            <a:endParaRPr lang="sr-Latn-RS" sz="2400"/>
          </a:p>
          <a:p>
            <a:r>
              <a:rPr lang="pl-PL" sz="2400"/>
              <a:t>Neravnoteža u podacima može dovesti do pristrasnih modela.</a:t>
            </a: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1472146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5849F-5131-47BB-9928-C9BA97F4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Izazovi u dostupnosti podataka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B5AE4-8124-865F-18FD-A5CD7AC99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Glavni izazovi su:</a:t>
            </a:r>
            <a:endParaRPr lang="en-US" sz="2400"/>
          </a:p>
          <a:p>
            <a:pPr lvl="1"/>
            <a:r>
              <a:rPr lang="pl-PL" sz="2400"/>
              <a:t>nedostatak podataka za male jezike</a:t>
            </a:r>
          </a:p>
          <a:p>
            <a:pPr lvl="1"/>
            <a:r>
              <a:rPr lang="en-GB" sz="2400"/>
              <a:t>visoki troškovi anotacije</a:t>
            </a:r>
            <a:endParaRPr lang="sr-Latn-RS" sz="2400"/>
          </a:p>
          <a:p>
            <a:pPr lvl="1"/>
            <a:r>
              <a:rPr lang="en-GB" sz="2400"/>
              <a:t>šum i loš kvalitet snimaka</a:t>
            </a:r>
            <a:endParaRPr lang="sr-Latn-RS" sz="2400"/>
          </a:p>
          <a:p>
            <a:r>
              <a:rPr lang="it-IT" sz="2400"/>
              <a:t>Ovo ograničava razvoj globalnih sistema.</a:t>
            </a: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26798719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E9DBE-BC2F-C35F-3B6B-F731956AE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Poređenje javnih dataset-a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D0F8D-18B8-4B84-7891-B37DBC05D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Dataset-i se razlikuju po:</a:t>
            </a:r>
            <a:endParaRPr lang="sr-Latn-RS" sz="2400"/>
          </a:p>
          <a:p>
            <a:pPr lvl="1"/>
            <a:r>
              <a:rPr lang="en-GB" sz="2400"/>
              <a:t>Jeziku</a:t>
            </a:r>
            <a:endParaRPr lang="sr-Latn-RS" sz="2400"/>
          </a:p>
          <a:p>
            <a:pPr lvl="1"/>
            <a:r>
              <a:rPr lang="en-GB" sz="2400"/>
              <a:t>Veličini</a:t>
            </a:r>
            <a:endParaRPr lang="sr-Latn-RS" sz="2400"/>
          </a:p>
          <a:p>
            <a:pPr lvl="1"/>
            <a:r>
              <a:rPr lang="sr-Latn-RS" sz="2400"/>
              <a:t>T</a:t>
            </a:r>
            <a:r>
              <a:rPr lang="en-GB" sz="2400"/>
              <a:t>ipu govora</a:t>
            </a:r>
            <a:endParaRPr lang="sr-Latn-RS" sz="2400"/>
          </a:p>
          <a:p>
            <a:pPr lvl="1"/>
            <a:r>
              <a:rPr lang="sr-Latn-RS" sz="2400"/>
              <a:t>K</a:t>
            </a:r>
            <a:r>
              <a:rPr lang="en-GB" sz="2400"/>
              <a:t>valitetu transkripcije</a:t>
            </a:r>
            <a:endParaRPr lang="sr-Latn-RS" sz="2400"/>
          </a:p>
          <a:p>
            <a:r>
              <a:rPr lang="en-GB" sz="2400"/>
              <a:t>Izbor dataset-a zavisi od cilja sistema.</a:t>
            </a:r>
          </a:p>
        </p:txBody>
      </p:sp>
    </p:spTree>
    <p:extLst>
      <p:ext uri="{BB962C8B-B14F-4D97-AF65-F5344CB8AC3E}">
        <p14:creationId xmlns:p14="http://schemas.microsoft.com/office/powerpoint/2010/main" val="42360868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9815A-EEE8-B54B-4A69-65EEE9A4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Budući trendovi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D8A7A-40B8-A358-781D-B36A77E7E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2400"/>
              <a:t>Trendovi u oblasti podataka za govor:</a:t>
            </a:r>
          </a:p>
          <a:p>
            <a:pPr lvl="1"/>
            <a:r>
              <a:rPr lang="en-GB" sz="2400"/>
              <a:t>crowdsourcing (npr. Common Voice)</a:t>
            </a:r>
            <a:endParaRPr lang="sr-Latn-RS" sz="2400"/>
          </a:p>
          <a:p>
            <a:pPr lvl="1"/>
            <a:r>
              <a:rPr lang="en-GB" sz="2400"/>
              <a:t>samonadzirano učenje</a:t>
            </a:r>
            <a:endParaRPr lang="sr-Latn-RS" sz="2400"/>
          </a:p>
          <a:p>
            <a:pPr lvl="1"/>
            <a:r>
              <a:rPr lang="en-GB" sz="2400"/>
              <a:t>generisanje sintetičkog govora</a:t>
            </a:r>
            <a:endParaRPr lang="sr-Latn-RS" sz="2400"/>
          </a:p>
          <a:p>
            <a:r>
              <a:rPr lang="en-GB" sz="2400"/>
              <a:t>Cilj je smanjiti zavisnost od ručno anotiranih podataka.</a:t>
            </a:r>
          </a:p>
        </p:txBody>
      </p:sp>
    </p:spTree>
    <p:extLst>
      <p:ext uri="{BB962C8B-B14F-4D97-AF65-F5344CB8AC3E}">
        <p14:creationId xmlns:p14="http://schemas.microsoft.com/office/powerpoint/2010/main" val="37594387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C6D56-A459-9DD6-C24F-2C9E1FA2F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Zaključak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CAFF4-F9DE-D853-B8FF-B8252CEC2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Izvori podataka su ključni faktor uspeha sistema za prepoznavanje govora.</a:t>
            </a:r>
            <a:endParaRPr lang="sr-Latn-RS" sz="2400"/>
          </a:p>
          <a:p>
            <a:r>
              <a:rPr lang="en-GB" sz="2400"/>
              <a:t>Javni dataset-i omogućavaju istraživanje i razvoj.</a:t>
            </a:r>
            <a:endParaRPr lang="sr-Latn-RS" sz="2400"/>
          </a:p>
          <a:p>
            <a:r>
              <a:rPr lang="en-GB" sz="2400"/>
              <a:t>Ipak, kvalitet, raznovrsnost i etički aspekti ostaju veliki izazovi u ovoj oblasti.</a:t>
            </a:r>
          </a:p>
        </p:txBody>
      </p:sp>
    </p:spTree>
    <p:extLst>
      <p:ext uri="{BB962C8B-B14F-4D97-AF65-F5344CB8AC3E}">
        <p14:creationId xmlns:p14="http://schemas.microsoft.com/office/powerpoint/2010/main" val="549290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38091-97C3-2BE3-A213-3AE0857169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pPr algn="ctr"/>
            <a:r>
              <a:rPr lang="sr-Latn-RS"/>
              <a:t>Hvala na pažnji!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5807320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40</TotalTime>
  <Words>576</Words>
  <Application>Microsoft Office PowerPoint</Application>
  <PresentationFormat>Widescreen</PresentationFormat>
  <Paragraphs>116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Century Schoolbook</vt:lpstr>
      <vt:lpstr>Wingdings 2</vt:lpstr>
      <vt:lpstr>View</vt:lpstr>
      <vt:lpstr>Speech recognition</vt:lpstr>
      <vt:lpstr>Uvod u prepoznavanje govora</vt:lpstr>
      <vt:lpstr>Zašto su podaci ključni</vt:lpstr>
      <vt:lpstr>Vrste podataka u prepoznavanju govora</vt:lpstr>
      <vt:lpstr>Audio podaci</vt:lpstr>
      <vt:lpstr>Transkripcija govora</vt:lpstr>
      <vt:lpstr>Označavanje i anotacija podataka</vt:lpstr>
      <vt:lpstr>Javni (open-source) izvori podataka</vt:lpstr>
      <vt:lpstr>LibriSpeech dataset</vt:lpstr>
      <vt:lpstr>Common Voice (Mozilla)</vt:lpstr>
      <vt:lpstr>TED-LIUM dataset</vt:lpstr>
      <vt:lpstr>Switchboard dataset</vt:lpstr>
      <vt:lpstr>Industrijski i komercijalni izvori</vt:lpstr>
      <vt:lpstr>Prikupljanje sopstvenih podataka</vt:lpstr>
      <vt:lpstr>Etika i privatnost</vt:lpstr>
      <vt:lpstr>Balans i raznovrsnost podataka</vt:lpstr>
      <vt:lpstr>Izazovi u dostupnosti podataka</vt:lpstr>
      <vt:lpstr>Poređenje javnih dataset-a</vt:lpstr>
      <vt:lpstr>Budući trendovi</vt:lpstr>
      <vt:lpstr>Zaključak</vt:lpstr>
      <vt:lpstr>Hvala na pažnji!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Int5629</dc:creator>
  <cp:lastModifiedBy>Int5629</cp:lastModifiedBy>
  <cp:revision>38</cp:revision>
  <dcterms:created xsi:type="dcterms:W3CDTF">2026-01-13T07:06:16Z</dcterms:created>
  <dcterms:modified xsi:type="dcterms:W3CDTF">2026-01-13T07:58:34Z</dcterms:modified>
</cp:coreProperties>
</file>