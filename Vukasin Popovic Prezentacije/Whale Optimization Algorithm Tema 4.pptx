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2" r:id="rId7"/>
    <p:sldId id="263" r:id="rId8"/>
    <p:sldId id="264" r:id="rId9"/>
    <p:sldId id="268" r:id="rId10"/>
    <p:sldId id="269" r:id="rId11"/>
    <p:sldId id="270" r:id="rId12"/>
    <p:sldId id="273" r:id="rId13"/>
    <p:sldId id="274" r:id="rId14"/>
    <p:sldId id="275" r:id="rId15"/>
    <p:sldId id="276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112" d="100"/>
          <a:sy n="112" d="100"/>
        </p:scale>
        <p:origin x="55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bg>
      <p:bgPr>
        <a:solidFill>
          <a:schemeClr val="bg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261872" y="758952"/>
            <a:ext cx="9418320" cy="4041648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720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61872" y="4800600"/>
            <a:ext cx="9418320" cy="1691640"/>
          </a:xfrm>
        </p:spPr>
        <p:txBody>
          <a:bodyPr>
            <a:normAutofit/>
          </a:bodyPr>
          <a:lstStyle>
            <a:lvl1pPr marL="0" indent="0" algn="l">
              <a:buNone/>
              <a:defRPr sz="2200" baseline="0">
                <a:solidFill>
                  <a:schemeClr val="tx1">
                    <a:lumMod val="75000"/>
                  </a:schemeClr>
                </a:solidFill>
              </a:defRPr>
            </a:lvl1pPr>
            <a:lvl2pPr marL="457200" indent="0" algn="ctr">
              <a:buNone/>
              <a:defRPr sz="2200"/>
            </a:lvl2pPr>
            <a:lvl3pPr marL="914400" indent="0" algn="ctr">
              <a:buNone/>
              <a:defRPr sz="22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50000"/>
                  </a:schemeClr>
                </a:solidFill>
              </a:defRPr>
            </a:lvl1pPr>
          </a:lstStyle>
          <a:p>
            <a:fld id="{D05B0792-8DCF-49E3-8199-5C19347ED2C6}" type="datetimeFigureOut">
              <a:rPr lang="en-GB" smtClean="0"/>
              <a:t>26/01/2026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6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65000"/>
                  </a:schemeClr>
                </a:solidFill>
              </a:defRPr>
            </a:lvl1pPr>
          </a:lstStyle>
          <a:p>
            <a:fld id="{ECCE8FE4-02D7-482E-BD45-905B64EDB5B6}" type="slidenum">
              <a:rPr lang="en-GB" smtClean="0"/>
              <a:t>‹#›</a:t>
            </a:fld>
            <a:endParaRPr lang="en-GB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279266771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5B0792-8DCF-49E3-8199-5C19347ED2C6}" type="datetimeFigureOut">
              <a:rPr lang="en-GB" smtClean="0"/>
              <a:t>26/01/2026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CE8FE4-02D7-482E-BD45-905B64EDB5B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941364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61872" y="758952"/>
            <a:ext cx="9418320" cy="4041648"/>
          </a:xfrm>
        </p:spPr>
        <p:txBody>
          <a:bodyPr anchor="b">
            <a:normAutofit/>
          </a:bodyPr>
          <a:lstStyle>
            <a:lvl1pPr>
              <a:lnSpc>
                <a:spcPct val="85000"/>
              </a:lnSpc>
              <a:defRPr sz="72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61872" y="4800600"/>
            <a:ext cx="9418320" cy="1691640"/>
          </a:xfrm>
        </p:spPr>
        <p:txBody>
          <a:bodyPr anchor="t">
            <a:normAutofit/>
          </a:bodyPr>
          <a:lstStyle>
            <a:lvl1pPr marL="0" indent="0">
              <a:buNone/>
              <a:defRPr sz="22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5B0792-8DCF-49E3-8199-5C19347ED2C6}" type="datetimeFigureOut">
              <a:rPr lang="en-GB" smtClean="0"/>
              <a:t>26/01/2026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CE8FE4-02D7-482E-BD45-905B64EDB5B6}" type="slidenum">
              <a:rPr lang="en-GB" smtClean="0"/>
              <a:t>‹#›</a:t>
            </a:fld>
            <a:endParaRPr lang="en-GB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32262301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61872" y="1828800"/>
            <a:ext cx="4480560" cy="4351337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6480" y="1828800"/>
            <a:ext cx="4480560" cy="4351337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5B0792-8DCF-49E3-8199-5C19347ED2C6}" type="datetimeFigureOut">
              <a:rPr lang="en-GB" smtClean="0"/>
              <a:t>26/01/2026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CE8FE4-02D7-482E-BD45-905B64EDB5B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310370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61872" y="1713655"/>
            <a:ext cx="4480560" cy="731520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2000" b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61872" y="2507550"/>
            <a:ext cx="4480560" cy="3664650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26480" y="1713655"/>
            <a:ext cx="4480560" cy="731520"/>
          </a:xfrm>
        </p:spPr>
        <p:txBody>
          <a:bodyPr anchor="b">
            <a:normAutofit/>
          </a:bodyPr>
          <a:lstStyle>
            <a:lvl1pPr marL="0" indent="0">
              <a:lnSpc>
                <a:spcPct val="95000"/>
              </a:lnSpc>
              <a:spcBef>
                <a:spcPts val="0"/>
              </a:spcBef>
              <a:buNone/>
              <a:defRPr lang="en-US" sz="2000" b="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2000"/>
              </a:spcBef>
              <a:buFontTx/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26480" y="2507550"/>
            <a:ext cx="4480560" cy="3664650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5B0792-8DCF-49E3-8199-5C19347ED2C6}" type="datetimeFigureOut">
              <a:rPr lang="en-GB" smtClean="0"/>
              <a:t>26/01/2026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CE8FE4-02D7-482E-BD45-905B64EDB5B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082808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5B0792-8DCF-49E3-8199-5C19347ED2C6}" type="datetimeFigureOut">
              <a:rPr lang="en-GB" smtClean="0"/>
              <a:t>26/01/2026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CE8FE4-02D7-482E-BD45-905B64EDB5B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541365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5B0792-8DCF-49E3-8199-5C19347ED2C6}" type="datetimeFigureOut">
              <a:rPr lang="en-GB" smtClean="0"/>
              <a:t>26/01/2026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CE8FE4-02D7-482E-BD45-905B64EDB5B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050472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457200"/>
            <a:ext cx="3200400" cy="1600197"/>
          </a:xfrm>
        </p:spPr>
        <p:txBody>
          <a:bodyPr anchor="b">
            <a:normAutofit/>
          </a:bodyPr>
          <a:lstStyle>
            <a:lvl1pPr>
              <a:defRPr sz="3200" b="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04267" y="685800"/>
            <a:ext cx="6079066" cy="548640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41248" y="2099734"/>
            <a:ext cx="3200400" cy="3810001"/>
          </a:xfrm>
        </p:spPr>
        <p:txBody>
          <a:bodyPr>
            <a:normAutofit/>
          </a:bodyPr>
          <a:lstStyle>
            <a:lvl1pPr marL="0" indent="0">
              <a:lnSpc>
                <a:spcPct val="114000"/>
              </a:lnSpc>
              <a:spcBef>
                <a:spcPts val="800"/>
              </a:spcBef>
              <a:buNone/>
              <a:defRPr sz="13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5B0792-8DCF-49E3-8199-5C19347ED2C6}" type="datetimeFigureOut">
              <a:rPr lang="en-GB" smtClean="0"/>
              <a:t>26/01/2026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CE8FE4-02D7-482E-BD45-905B64EDB5B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722045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5105400"/>
            <a:ext cx="11292840" cy="17526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5257800"/>
            <a:ext cx="9982200" cy="914400"/>
          </a:xfrm>
        </p:spPr>
        <p:txBody>
          <a:bodyPr anchor="b">
            <a:normAutofit/>
          </a:bodyPr>
          <a:lstStyle>
            <a:lvl1pPr>
              <a:defRPr sz="2800" b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0"/>
            <a:ext cx="11292840" cy="5128923"/>
          </a:xfrm>
          <a:solidFill>
            <a:schemeClr val="accent1"/>
          </a:solidFill>
        </p:spPr>
        <p:txBody>
          <a:bodyPr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4400" y="6108589"/>
            <a:ext cx="9982200" cy="597011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800"/>
              </a:spcBef>
              <a:buNone/>
              <a:defRPr sz="1300">
                <a:solidFill>
                  <a:schemeClr val="bg1">
                    <a:lumMod val="85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5B0792-8DCF-49E3-8199-5C19347ED2C6}" type="datetimeFigureOut">
              <a:rPr lang="en-GB" smtClean="0"/>
              <a:t>26/01/2026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CE8FE4-02D7-482E-BD45-905B64EDB5B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2225424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5B0792-8DCF-49E3-8199-5C19347ED2C6}" type="datetimeFigureOut">
              <a:rPr lang="en-GB" smtClean="0"/>
              <a:t>26/01/2026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CE8FE4-02D7-482E-BD45-905B64EDB5B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0150531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48700" y="381000"/>
            <a:ext cx="2476500" cy="5897562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62000" y="381000"/>
            <a:ext cx="7734300" cy="589756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5B0792-8DCF-49E3-8199-5C19347ED2C6}" type="datetimeFigureOut">
              <a:rPr lang="en-GB" smtClean="0"/>
              <a:t>26/01/2026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CE8FE4-02D7-482E-BD45-905B64EDB5B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987478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1292840" y="0"/>
            <a:ext cx="914400" cy="6858000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61872" y="365760"/>
            <a:ext cx="9692640" cy="132556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61872" y="1828800"/>
            <a:ext cx="8595360" cy="435133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16200000">
            <a:off x="10797542" y="998537"/>
            <a:ext cx="19049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 b="0">
                <a:solidFill>
                  <a:schemeClr val="tx2">
                    <a:lumMod val="20000"/>
                    <a:lumOff val="80000"/>
                  </a:schemeClr>
                </a:solidFill>
              </a:defRPr>
            </a:lvl1pPr>
          </a:lstStyle>
          <a:p>
            <a:fld id="{D05B0792-8DCF-49E3-8199-5C19347ED2C6}" type="datetimeFigureOut">
              <a:rPr lang="en-GB" smtClean="0"/>
              <a:t>26/01/2026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16200000">
            <a:off x="9959341" y="4046537"/>
            <a:ext cx="3581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2">
                    <a:lumMod val="20000"/>
                    <a:lumOff val="80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292840" y="6172200"/>
            <a:ext cx="914400" cy="593725"/>
          </a:xfrm>
          <a:prstGeom prst="rect">
            <a:avLst/>
          </a:prstGeom>
        </p:spPr>
        <p:txBody>
          <a:bodyPr vert="horz" lIns="45720" tIns="45720" rIns="45720" bIns="45720" rtlCol="0" anchor="ctr">
            <a:normAutofit/>
          </a:bodyPr>
          <a:lstStyle>
            <a:lvl1pPr algn="ctr">
              <a:defRPr sz="3600">
                <a:solidFill>
                  <a:schemeClr val="tx2">
                    <a:lumMod val="60000"/>
                    <a:lumOff val="40000"/>
                  </a:schemeClr>
                </a:solidFill>
              </a:defRPr>
            </a:lvl1pPr>
          </a:lstStyle>
          <a:p>
            <a:fld id="{ECCE8FE4-02D7-482E-BD45-905B64EDB5B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094672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 spc="-5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82880" indent="-182880" algn="l" defTabSz="914400" rtl="0" eaLnBrk="1" latinLnBrk="0" hangingPunct="1">
        <a:lnSpc>
          <a:spcPct val="95000"/>
        </a:lnSpc>
        <a:spcBef>
          <a:spcPts val="1400"/>
        </a:spcBef>
        <a:spcAft>
          <a:spcPts val="200"/>
        </a:spcAft>
        <a:buClr>
          <a:schemeClr val="accent1"/>
        </a:buClr>
        <a:buSzPct val="80000"/>
        <a:buFont typeface="Arial" pitchFamily="34" charset="0"/>
        <a:buChar char="•"/>
        <a:defRPr sz="1800" kern="1200" spc="10" baseline="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73152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100584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128016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16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6pPr>
      <a:lvl7pPr marL="19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7pPr>
      <a:lvl8pPr marL="22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8pPr>
      <a:lvl9pPr marL="25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538091-97C3-2BE3-A213-3AE0857169B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/>
              <a:t>Whale Optimization Algorithm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2D16450-98CA-B12C-6E7A-72E533E6AD7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/>
              <a:t>Inspirisan strategijom lova grbavih kitova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4CC9BA88-8365-9714-595A-669187529690}"/>
              </a:ext>
            </a:extLst>
          </p:cNvPr>
          <p:cNvSpPr txBox="1">
            <a:spLocks/>
          </p:cNvSpPr>
          <p:nvPr/>
        </p:nvSpPr>
        <p:spPr>
          <a:xfrm>
            <a:off x="1261872" y="5461959"/>
            <a:ext cx="9418320" cy="1691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95000"/>
              </a:lnSpc>
              <a:spcBef>
                <a:spcPts val="1400"/>
              </a:spcBef>
              <a:spcAft>
                <a:spcPts val="20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2200" kern="1200" spc="10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None/>
              <a:defRPr sz="22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None/>
              <a:defRPr sz="22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None/>
              <a:defRPr sz="20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None/>
              <a:defRPr sz="20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None/>
              <a:defRPr sz="20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None/>
              <a:defRPr sz="20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None/>
              <a:defRPr sz="20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None/>
              <a:defRPr sz="20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sr-Latn-RS"/>
              <a:t>Student:						      Mentor:</a:t>
            </a:r>
          </a:p>
          <a:p>
            <a:r>
              <a:rPr lang="sr-Latn-RS"/>
              <a:t>Vukašin Popović					      Leonid Stoimenov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289283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DC14C3-907E-29AC-F95C-1669C16C5C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Uvod u optimizacione algoritme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2C2D52-3A99-FA6E-BFEE-88EAD6D945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2400"/>
              <a:t>Optimizacioni algoritmi se koriste za pronalaženje najboljeg rešenja u velikom prostoru mogućnosti.</a:t>
            </a:r>
          </a:p>
          <a:p>
            <a:r>
              <a:rPr lang="en-GB" sz="2400"/>
              <a:t>Posebno su važni u problemima gde:</a:t>
            </a:r>
          </a:p>
          <a:p>
            <a:pPr lvl="1"/>
            <a:r>
              <a:rPr lang="en-GB" sz="2200"/>
              <a:t>ne postoji analitičko rešenje</a:t>
            </a:r>
          </a:p>
          <a:p>
            <a:pPr lvl="1"/>
            <a:r>
              <a:rPr lang="en-GB" sz="2200"/>
              <a:t>prostor rešenja je nelinearan</a:t>
            </a:r>
          </a:p>
          <a:p>
            <a:pPr lvl="1"/>
            <a:r>
              <a:rPr lang="en-GB" sz="2200"/>
              <a:t>postoji više lokalnih optimuma</a:t>
            </a:r>
          </a:p>
        </p:txBody>
      </p:sp>
    </p:spTree>
    <p:extLst>
      <p:ext uri="{BB962C8B-B14F-4D97-AF65-F5344CB8AC3E}">
        <p14:creationId xmlns:p14="http://schemas.microsoft.com/office/powerpoint/2010/main" val="34542934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8BB7EB-D298-660D-2528-7AE872626A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Metaheuristički algoritmi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7F21F9-1943-FD40-00A7-076C1EC9579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GB" sz="2400"/>
              <a:t>WOA pripada grupi </a:t>
            </a:r>
            <a:r>
              <a:rPr lang="en-GB" sz="2400" b="1"/>
              <a:t>metaheurističkih algoritama</a:t>
            </a:r>
            <a:r>
              <a:rPr lang="en-GB" sz="2400"/>
              <a:t>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GB" sz="2400"/>
              <a:t>Karakteristike metaheuristika: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GB" sz="2400"/>
              <a:t>inspiracija iz prirode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GB" sz="2400"/>
              <a:t>stohastičko pretraživanje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GB" sz="2400"/>
              <a:t>balans između istraživanja i eksploatacije</a:t>
            </a:r>
          </a:p>
        </p:txBody>
      </p:sp>
    </p:spTree>
    <p:extLst>
      <p:ext uri="{BB962C8B-B14F-4D97-AF65-F5344CB8AC3E}">
        <p14:creationId xmlns:p14="http://schemas.microsoft.com/office/powerpoint/2010/main" val="57145160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E8F220-DF98-3CF3-C00E-587305706C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Inspiracija iz prirode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5B91CD-BB4F-A831-42DD-37309A16F0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2400"/>
              <a:t>Mnogi optimizacioni algoritmi su inspirisani prirodom:</a:t>
            </a:r>
          </a:p>
          <a:p>
            <a:pPr lvl="1"/>
            <a:r>
              <a:rPr lang="en-GB" sz="2400"/>
              <a:t>PSO – jata ptica</a:t>
            </a:r>
          </a:p>
          <a:p>
            <a:pPr lvl="1"/>
            <a:r>
              <a:rPr lang="en-GB" sz="2400"/>
              <a:t>GWO – čopori vukova</a:t>
            </a:r>
          </a:p>
          <a:p>
            <a:pPr lvl="1"/>
            <a:r>
              <a:rPr lang="en-GB" sz="2400"/>
              <a:t>ACO – kolonije mrava</a:t>
            </a:r>
          </a:p>
          <a:p>
            <a:pPr lvl="1"/>
            <a:r>
              <a:rPr lang="en-GB" sz="2400"/>
              <a:t>WOA – lov grbavih kitova</a:t>
            </a:r>
          </a:p>
        </p:txBody>
      </p:sp>
    </p:spTree>
    <p:extLst>
      <p:ext uri="{BB962C8B-B14F-4D97-AF65-F5344CB8AC3E}">
        <p14:creationId xmlns:p14="http://schemas.microsoft.com/office/powerpoint/2010/main" val="88243555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CA0633-AEA7-2952-D5E4-2CC3F220C0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Grbavi kitovi (Humpback whales)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87C638-5F71-23A7-7EA5-6E2D5A4F0A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2400"/>
              <a:t>Grbavi kitovi su poznati po svojoj jedinstvenoj tehnici lova.</a:t>
            </a:r>
          </a:p>
          <a:p>
            <a:r>
              <a:rPr lang="en-GB" sz="2400"/>
              <a:t>Koriste koordinisano kretanje i mehuriće vazduha kako bi grupisali plen.</a:t>
            </a:r>
          </a:p>
        </p:txBody>
      </p:sp>
    </p:spTree>
    <p:extLst>
      <p:ext uri="{BB962C8B-B14F-4D97-AF65-F5344CB8AC3E}">
        <p14:creationId xmlns:p14="http://schemas.microsoft.com/office/powerpoint/2010/main" val="219862409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364943-34C1-C6F6-46D9-0256C5BB87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Osnovna ideja WOA algoritma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F34B29-D8D9-3BE4-0810-94F4A491BA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2400"/>
              <a:t>U WOA algoritmu:</a:t>
            </a:r>
          </a:p>
          <a:p>
            <a:pPr lvl="1"/>
            <a:r>
              <a:rPr lang="en-GB" sz="2400"/>
              <a:t>svaki kit predstavlja jedno moguće rešenje</a:t>
            </a:r>
          </a:p>
          <a:p>
            <a:pPr lvl="1"/>
            <a:r>
              <a:rPr lang="en-GB" sz="2400"/>
              <a:t>najbolji kit predstavlja trenutno optimalno rešenje</a:t>
            </a:r>
          </a:p>
          <a:p>
            <a:pPr lvl="1"/>
            <a:r>
              <a:rPr lang="pl-PL" sz="2400"/>
              <a:t>ostali kitovi se pomeraju ka najboljem</a:t>
            </a:r>
            <a:endParaRPr lang="en-GB" sz="2400"/>
          </a:p>
          <a:p>
            <a:pPr lvl="1"/>
            <a:endParaRPr lang="en-GB" sz="2400" b="1"/>
          </a:p>
          <a:p>
            <a:r>
              <a:rPr lang="en-GB" sz="2400"/>
              <a:t>Cilj je pronaći globalni optimum.</a:t>
            </a:r>
            <a:endParaRPr lang="en-GB" sz="2400" b="1"/>
          </a:p>
        </p:txBody>
      </p:sp>
    </p:spTree>
    <p:extLst>
      <p:ext uri="{BB962C8B-B14F-4D97-AF65-F5344CB8AC3E}">
        <p14:creationId xmlns:p14="http://schemas.microsoft.com/office/powerpoint/2010/main" val="34873081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97645B-B86B-882D-5225-61E38303E5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Matematički model (intuicija)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20BE1E-E56F-1792-BBBA-1588E08CC3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r>
              <a:rPr lang="en-GB" sz="2400"/>
              <a:t>Kretanje kitova se modeluje:</a:t>
            </a:r>
          </a:p>
          <a:p>
            <a:pPr lvl="1"/>
            <a:r>
              <a:rPr lang="en-GB" sz="2400"/>
              <a:t>smanjivanjem distance do plena</a:t>
            </a:r>
          </a:p>
          <a:p>
            <a:pPr lvl="1"/>
            <a:r>
              <a:rPr lang="en-GB" sz="2400"/>
              <a:t>spiralnim kretanjem</a:t>
            </a:r>
          </a:p>
          <a:p>
            <a:pPr lvl="1"/>
            <a:r>
              <a:rPr lang="en-GB" sz="2400"/>
              <a:t>slučajnim istraživanjem prostora</a:t>
            </a:r>
          </a:p>
          <a:p>
            <a:r>
              <a:rPr lang="en-GB" sz="2400"/>
              <a:t>Model kombinuje eksploataciju i istraživanje.</a:t>
            </a:r>
          </a:p>
        </p:txBody>
      </p:sp>
    </p:spTree>
    <p:extLst>
      <p:ext uri="{BB962C8B-B14F-4D97-AF65-F5344CB8AC3E}">
        <p14:creationId xmlns:p14="http://schemas.microsoft.com/office/powerpoint/2010/main" val="320885237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C2EDED-5C40-2AD3-6CA2-AD78DD6CDB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Faze WOA algoritma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49A75D-1680-258D-28C9-0BA32BA367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it-IT" sz="2400"/>
              <a:t>WOA ima tri glavne faze:</a:t>
            </a:r>
          </a:p>
          <a:p>
            <a:pPr marL="731520" lvl="1" indent="-457200">
              <a:buFont typeface="+mj-lt"/>
              <a:buAutoNum type="arabicPeriod"/>
            </a:pPr>
            <a:r>
              <a:rPr lang="en-GB" sz="2200"/>
              <a:t>hiljade sati govora</a:t>
            </a:r>
            <a:endParaRPr lang="sr-Latn-RS" sz="2200"/>
          </a:p>
          <a:p>
            <a:pPr marL="731520" lvl="1" indent="-457200">
              <a:buFont typeface="+mj-lt"/>
              <a:buAutoNum type="arabicPeriod"/>
            </a:pPr>
            <a:r>
              <a:rPr lang="en-GB" sz="2400"/>
              <a:t>engleski jezik</a:t>
            </a:r>
            <a:endParaRPr lang="sr-Latn-RS" sz="2400"/>
          </a:p>
          <a:p>
            <a:pPr marL="731520" lvl="1" indent="-457200">
              <a:buFont typeface="+mj-lt"/>
              <a:buAutoNum type="arabicPeriod"/>
            </a:pPr>
            <a:r>
              <a:rPr lang="en-GB" sz="2400"/>
              <a:t>audio knjige čitane naglas</a:t>
            </a:r>
            <a:endParaRPr lang="pl-PL" sz="2400"/>
          </a:p>
          <a:p>
            <a:r>
              <a:rPr lang="en-GB" sz="2400"/>
              <a:t>Ove faze se biraju stohastički.</a:t>
            </a:r>
          </a:p>
        </p:txBody>
      </p:sp>
    </p:spTree>
    <p:extLst>
      <p:ext uri="{BB962C8B-B14F-4D97-AF65-F5344CB8AC3E}">
        <p14:creationId xmlns:p14="http://schemas.microsoft.com/office/powerpoint/2010/main" val="124992272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876E85-E00E-D586-DE21-5401B945A8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Zašto je WOA dobar izbor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E0C052-B698-0216-32D9-02C0AC75A0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2400"/>
              <a:t>Prednosti WOA algoritma:</a:t>
            </a:r>
          </a:p>
          <a:p>
            <a:pPr lvl="1"/>
            <a:r>
              <a:rPr lang="pl-PL" sz="2400"/>
              <a:t>jednostavan za razumevanje i implementaciju</a:t>
            </a:r>
            <a:endParaRPr lang="en-US" sz="2400"/>
          </a:p>
          <a:p>
            <a:pPr lvl="1"/>
            <a:r>
              <a:rPr lang="en-GB" sz="2400"/>
              <a:t>mali broj parametara</a:t>
            </a:r>
          </a:p>
          <a:p>
            <a:pPr lvl="1"/>
            <a:r>
              <a:rPr lang="fr-FR" sz="2400"/>
              <a:t>dobar balans između exploration i exploitation</a:t>
            </a:r>
          </a:p>
          <a:p>
            <a:r>
              <a:rPr lang="en-GB" sz="2400"/>
              <a:t>Zbog toga je čest izbor u istraživanju.</a:t>
            </a:r>
          </a:p>
        </p:txBody>
      </p:sp>
    </p:spTree>
    <p:extLst>
      <p:ext uri="{BB962C8B-B14F-4D97-AF65-F5344CB8AC3E}">
        <p14:creationId xmlns:p14="http://schemas.microsoft.com/office/powerpoint/2010/main" val="267600057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3DF166-7193-DA31-8928-9F6BF204B8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Poređenje sa PSO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D9374C-BD28-3E19-2266-B5A364D318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2400"/>
              <a:t>PSO (Particle Swarm Optimization):</a:t>
            </a:r>
          </a:p>
          <a:p>
            <a:pPr lvl="1"/>
            <a:r>
              <a:rPr lang="en-GB" sz="2400"/>
              <a:t>brz u konvergenciji</a:t>
            </a:r>
          </a:p>
          <a:p>
            <a:pPr lvl="1"/>
            <a:r>
              <a:rPr lang="en-GB" sz="2400"/>
              <a:t>zavisi od brzine čestica</a:t>
            </a:r>
          </a:p>
          <a:p>
            <a:r>
              <a:rPr lang="en-GB" sz="2400"/>
              <a:t>WOA:</a:t>
            </a:r>
          </a:p>
          <a:p>
            <a:pPr lvl="1"/>
            <a:r>
              <a:rPr lang="en-GB" sz="2400"/>
              <a:t>jednostavnija dinamika</a:t>
            </a:r>
          </a:p>
          <a:p>
            <a:pPr lvl="1"/>
            <a:r>
              <a:rPr lang="en-GB" sz="2400"/>
              <a:t>manje parametara</a:t>
            </a:r>
          </a:p>
          <a:p>
            <a:pPr lvl="1"/>
            <a:r>
              <a:rPr lang="en-GB" sz="2400"/>
              <a:t>lakše podešavanje</a:t>
            </a:r>
          </a:p>
        </p:txBody>
      </p:sp>
    </p:spTree>
    <p:extLst>
      <p:ext uri="{BB962C8B-B14F-4D97-AF65-F5344CB8AC3E}">
        <p14:creationId xmlns:p14="http://schemas.microsoft.com/office/powerpoint/2010/main" val="373261456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28040C-656E-08CF-40FC-7923FEDCA9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Poređenje sa GWO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6F8A82-5F0A-31E4-0886-E3D3CE93AD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2400"/>
              <a:t>GWO (Grey Wolf Optimizer):</a:t>
            </a:r>
          </a:p>
          <a:p>
            <a:pPr lvl="1"/>
            <a:r>
              <a:rPr lang="en-GB" sz="2400"/>
              <a:t>hijerarhijska struktura</a:t>
            </a:r>
          </a:p>
          <a:p>
            <a:pPr lvl="1"/>
            <a:r>
              <a:rPr lang="sv-SE" sz="2400"/>
              <a:t>više vođa (alpha, beta, delta)</a:t>
            </a:r>
          </a:p>
          <a:p>
            <a:r>
              <a:rPr lang="en-GB" sz="2400"/>
              <a:t>WOA:</a:t>
            </a:r>
          </a:p>
          <a:p>
            <a:pPr lvl="1"/>
            <a:r>
              <a:rPr lang="en-GB" sz="2400"/>
              <a:t>jedan najbolji lider</a:t>
            </a:r>
          </a:p>
          <a:p>
            <a:pPr lvl="1"/>
            <a:r>
              <a:rPr lang="en-GB" sz="2400"/>
              <a:t>spiralna strategija kretanja</a:t>
            </a:r>
          </a:p>
          <a:p>
            <a:pPr lvl="1"/>
            <a:r>
              <a:rPr lang="en-GB" sz="2400"/>
              <a:t>jednostavniji model</a:t>
            </a:r>
          </a:p>
        </p:txBody>
      </p:sp>
    </p:spTree>
    <p:extLst>
      <p:ext uri="{BB962C8B-B14F-4D97-AF65-F5344CB8AC3E}">
        <p14:creationId xmlns:p14="http://schemas.microsoft.com/office/powerpoint/2010/main" val="23003261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FE9DBE-BC2F-C35F-3B6B-F731956AEA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Primena</a:t>
            </a:r>
            <a:r>
              <a:rPr lang="en-GB" dirty="0"/>
              <a:t> </a:t>
            </a:r>
            <a:r>
              <a:rPr lang="fi-FI" dirty="0"/>
              <a:t>WOA algoritma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8D0F8D-18B8-4B84-7891-B37DBC05DE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i-FI" sz="2400" dirty="0"/>
              <a:t>WOA se često koristi za:</a:t>
            </a:r>
          </a:p>
          <a:p>
            <a:pPr lvl="1"/>
            <a:r>
              <a:rPr lang="en-GB" sz="2400" dirty="0" err="1"/>
              <a:t>izbor</a:t>
            </a:r>
            <a:r>
              <a:rPr lang="en-GB" sz="2400" dirty="0"/>
              <a:t> </a:t>
            </a:r>
            <a:r>
              <a:rPr lang="en-GB" sz="2400" dirty="0" err="1"/>
              <a:t>optimalnog</a:t>
            </a:r>
            <a:r>
              <a:rPr lang="en-GB" sz="2400" dirty="0"/>
              <a:t> </a:t>
            </a:r>
            <a:r>
              <a:rPr lang="en-GB" sz="2400" dirty="0" err="1"/>
              <a:t>podskupa</a:t>
            </a:r>
            <a:r>
              <a:rPr lang="en-GB" sz="2400" dirty="0"/>
              <a:t> </a:t>
            </a:r>
            <a:r>
              <a:rPr lang="en-GB" sz="2400" dirty="0" err="1"/>
              <a:t>osobina</a:t>
            </a:r>
            <a:endParaRPr lang="en-GB" sz="2400" dirty="0"/>
          </a:p>
          <a:p>
            <a:pPr lvl="1"/>
            <a:r>
              <a:rPr lang="en-GB" sz="2400" dirty="0" err="1"/>
              <a:t>smanjenje</a:t>
            </a:r>
            <a:r>
              <a:rPr lang="en-GB" sz="2400" dirty="0"/>
              <a:t> </a:t>
            </a:r>
            <a:r>
              <a:rPr lang="en-GB" sz="2400" dirty="0" err="1"/>
              <a:t>dimenzionalnosti</a:t>
            </a:r>
            <a:endParaRPr lang="en-GB" sz="2400" dirty="0"/>
          </a:p>
          <a:p>
            <a:pPr lvl="1"/>
            <a:r>
              <a:rPr lang="en-GB" sz="2400" dirty="0" err="1"/>
              <a:t>poboljšanje</a:t>
            </a:r>
            <a:r>
              <a:rPr lang="en-GB" sz="2400" dirty="0"/>
              <a:t> </a:t>
            </a:r>
            <a:r>
              <a:rPr lang="en-GB" sz="2400" dirty="0" err="1"/>
              <a:t>performansi</a:t>
            </a:r>
            <a:r>
              <a:rPr lang="en-GB" sz="2400" dirty="0"/>
              <a:t> ML </a:t>
            </a:r>
            <a:r>
              <a:rPr lang="en-GB" sz="2400" dirty="0" err="1"/>
              <a:t>modela</a:t>
            </a:r>
            <a:endParaRPr lang="en-GB" sz="2400" dirty="0"/>
          </a:p>
          <a:p>
            <a:r>
              <a:rPr lang="en-GB" sz="2400" dirty="0"/>
              <a:t>WOA je </a:t>
            </a:r>
            <a:r>
              <a:rPr lang="en-GB" sz="2400" dirty="0" err="1"/>
              <a:t>primenjen</a:t>
            </a:r>
            <a:r>
              <a:rPr lang="en-GB" sz="2400" dirty="0"/>
              <a:t> u:</a:t>
            </a:r>
          </a:p>
          <a:p>
            <a:pPr lvl="1"/>
            <a:r>
              <a:rPr lang="en-GB" sz="2400" dirty="0" err="1"/>
              <a:t>optimizaciji</a:t>
            </a:r>
            <a:r>
              <a:rPr lang="en-GB" sz="2400" dirty="0"/>
              <a:t> </a:t>
            </a:r>
            <a:r>
              <a:rPr lang="en-GB" sz="2400" dirty="0" err="1"/>
              <a:t>struktura</a:t>
            </a:r>
            <a:endParaRPr lang="en-GB" sz="2400" dirty="0"/>
          </a:p>
          <a:p>
            <a:pPr lvl="1"/>
            <a:r>
              <a:rPr lang="en-GB" sz="2400" dirty="0" err="1"/>
              <a:t>energetskoj</a:t>
            </a:r>
            <a:r>
              <a:rPr lang="en-GB" sz="2400" dirty="0"/>
              <a:t> </a:t>
            </a:r>
            <a:r>
              <a:rPr lang="en-GB" sz="2400" dirty="0" err="1"/>
              <a:t>efikasnosti</a:t>
            </a:r>
            <a:endParaRPr lang="en-GB" sz="2400" dirty="0"/>
          </a:p>
          <a:p>
            <a:pPr lvl="1"/>
            <a:r>
              <a:rPr lang="en-GB" sz="2400" dirty="0" err="1"/>
              <a:t>raspoređivanju</a:t>
            </a:r>
            <a:r>
              <a:rPr lang="en-GB" sz="2400" dirty="0"/>
              <a:t> </a:t>
            </a:r>
            <a:r>
              <a:rPr lang="en-GB" sz="2400" dirty="0" err="1"/>
              <a:t>resursa</a:t>
            </a:r>
            <a:endParaRPr lang="en-GB" sz="2400" dirty="0"/>
          </a:p>
          <a:p>
            <a:r>
              <a:rPr lang="en-GB" sz="2400" dirty="0" err="1"/>
              <a:t>Posebno</a:t>
            </a:r>
            <a:r>
              <a:rPr lang="en-GB" sz="2400" dirty="0"/>
              <a:t> u </a:t>
            </a:r>
            <a:r>
              <a:rPr lang="en-GB" sz="2400" dirty="0" err="1"/>
              <a:t>nelinearnim</a:t>
            </a:r>
            <a:r>
              <a:rPr lang="en-GB" sz="2400" dirty="0"/>
              <a:t> </a:t>
            </a:r>
            <a:r>
              <a:rPr lang="en-GB" sz="2400" dirty="0" err="1"/>
              <a:t>problemima</a:t>
            </a:r>
            <a:r>
              <a:rPr lang="en-GB" sz="24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23608682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A9815A-EEE8-B54B-4A69-65EEE9A489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Prednosti i ograničenja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7D8A7A-40B8-A358-781D-B36A77E7EA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2400"/>
              <a:t>Prednosti:</a:t>
            </a:r>
            <a:endParaRPr lang="pl-PL" sz="2400"/>
          </a:p>
          <a:p>
            <a:pPr lvl="1"/>
            <a:r>
              <a:rPr lang="en-GB" sz="2400"/>
              <a:t>jednostavna implementacija</a:t>
            </a:r>
          </a:p>
          <a:p>
            <a:pPr lvl="1"/>
            <a:r>
              <a:rPr lang="en-GB" sz="2400"/>
              <a:t>Fleksibilnost</a:t>
            </a:r>
          </a:p>
          <a:p>
            <a:pPr lvl="1"/>
            <a:r>
              <a:rPr lang="en-GB" sz="2400"/>
              <a:t>široka primena</a:t>
            </a:r>
          </a:p>
          <a:p>
            <a:r>
              <a:rPr lang="en-GB" sz="2400"/>
              <a:t>Ograničenja:</a:t>
            </a:r>
          </a:p>
          <a:p>
            <a:pPr lvl="1"/>
            <a:r>
              <a:rPr lang="en-GB" sz="2400"/>
              <a:t>sporija konvergencija u nekim slučajevima</a:t>
            </a:r>
          </a:p>
          <a:p>
            <a:pPr lvl="1"/>
            <a:r>
              <a:rPr lang="en-GB" sz="2400"/>
              <a:t>zavisi od inicijalne populacije</a:t>
            </a:r>
          </a:p>
        </p:txBody>
      </p:sp>
    </p:spTree>
    <p:extLst>
      <p:ext uri="{BB962C8B-B14F-4D97-AF65-F5344CB8AC3E}">
        <p14:creationId xmlns:p14="http://schemas.microsoft.com/office/powerpoint/2010/main" val="375943877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7C6D56-A459-9DD6-C24F-2C9E1FA2F8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Zaključak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2CAFF4-F9DE-D853-B8FF-B8252CEC29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2400"/>
              <a:t>Whale Optimization Algorithm je moćan i intuitivan metaheuristički algoritam.</a:t>
            </a:r>
          </a:p>
          <a:p>
            <a:r>
              <a:rPr lang="en-GB" sz="2400"/>
              <a:t>Inspirisan prirodnim ponašanjem grbavih kitova, uspešno se primenjuje u ML i inženjerskim problemima.</a:t>
            </a:r>
          </a:p>
          <a:p>
            <a:r>
              <a:rPr lang="en-GB" sz="2400"/>
              <a:t>Zbog svoje jednostavnosti i fleksibilnosti, predstavlja dobar izbor za optimizacione zadatke.</a:t>
            </a:r>
          </a:p>
        </p:txBody>
      </p:sp>
    </p:spTree>
    <p:extLst>
      <p:ext uri="{BB962C8B-B14F-4D97-AF65-F5344CB8AC3E}">
        <p14:creationId xmlns:p14="http://schemas.microsoft.com/office/powerpoint/2010/main" val="54929067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538091-97C3-2BE3-A213-3AE0857169B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anchor="ctr"/>
          <a:lstStyle/>
          <a:p>
            <a:pPr algn="ctr"/>
            <a:r>
              <a:rPr lang="sr-Latn-RS"/>
              <a:t>Hvala na pažnji!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05807320"/>
      </p:ext>
    </p:extLst>
  </p:cSld>
  <p:clrMapOvr>
    <a:masterClrMapping/>
  </p:clrMapOvr>
</p:sld>
</file>

<file path=ppt/theme/theme1.xml><?xml version="1.0" encoding="utf-8"?>
<a:theme xmlns:a="http://schemas.openxmlformats.org/drawingml/2006/main" name="View">
  <a:themeElements>
    <a:clrScheme name="View">
      <a:dk1>
        <a:srgbClr val="000000"/>
      </a:dk1>
      <a:lt1>
        <a:srgbClr val="FFFFFF"/>
      </a:lt1>
      <a:dk2>
        <a:srgbClr val="46464A"/>
      </a:dk2>
      <a:lt2>
        <a:srgbClr val="D6D3CC"/>
      </a:lt2>
      <a:accent1>
        <a:srgbClr val="6F6F74"/>
      </a:accent1>
      <a:accent2>
        <a:srgbClr val="92A9B9"/>
      </a:accent2>
      <a:accent3>
        <a:srgbClr val="A7B789"/>
      </a:accent3>
      <a:accent4>
        <a:srgbClr val="B9A489"/>
      </a:accent4>
      <a:accent5>
        <a:srgbClr val="8D6374"/>
      </a:accent5>
      <a:accent6>
        <a:srgbClr val="9B7362"/>
      </a:accent6>
      <a:hlink>
        <a:srgbClr val="67AABF"/>
      </a:hlink>
      <a:folHlink>
        <a:srgbClr val="ABAFA5"/>
      </a:folHlink>
    </a:clrScheme>
    <a:fontScheme name="View">
      <a:majorFont>
        <a:latin typeface="Century Schoolbook" panose="020406040505050203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Schoolbook" panose="020406040505050203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View">
      <a:fillStyleLst>
        <a:solidFill>
          <a:schemeClr val="phClr"/>
        </a:solidFill>
        <a:solidFill>
          <a:schemeClr val="phClr">
            <a:tint val="60000"/>
            <a:satMod val="120000"/>
          </a:schemeClr>
        </a:solidFill>
        <a:solidFill>
          <a:schemeClr val="phClr">
            <a:shade val="75000"/>
            <a:satMod val="16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3970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95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5240" dir="5400000" algn="tl" rotWithShape="0">
              <a:srgbClr val="000000">
                <a:alpha val="7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contourW="9525" prstMaterial="flat">
            <a:bevelT w="0" h="0" prst="coolSlant"/>
            <a:contourClr>
              <a:schemeClr val="phClr">
                <a:shade val="35000"/>
                <a:satMod val="130000"/>
              </a:schemeClr>
            </a:contourClr>
          </a:sp3d>
        </a:effectStyle>
        <a:effectStyle>
          <a:effectLst>
            <a:outerShdw blurRad="76200" dist="25400" dir="5400000" algn="tl" rotWithShape="0">
              <a:srgbClr val="000000">
                <a:alpha val="5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contourW="19050" prstMaterial="flat">
            <a:bevelT w="0" h="0" prst="coolSlant"/>
            <a:contourClr>
              <a:schemeClr val="phClr">
                <a:shade val="25000"/>
                <a:satMod val="14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4000"/>
                <a:shade val="98000"/>
                <a:satMod val="130000"/>
                <a:lumMod val="102000"/>
              </a:schemeClr>
            </a:gs>
            <a:gs pos="100000">
              <a:schemeClr val="phClr">
                <a:tint val="98000"/>
                <a:shade val="78000"/>
                <a:satMod val="140000"/>
              </a:schemeClr>
            </a:gs>
          </a:gsLst>
          <a:path path="circle">
            <a:fillToRect l="100000" t="10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iew" id="{BA0EB5A6-F2D4-4F82-977B-64ADEE4A2A69}" vid="{3969A8A2-35DB-4E3B-8885-16FD20568674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TM03457515[[fn=View]]</Template>
  <TotalTime>80</TotalTime>
  <Words>405</Words>
  <Application>Microsoft Office PowerPoint</Application>
  <PresentationFormat>Widescreen</PresentationFormat>
  <Paragraphs>89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9" baseType="lpstr">
      <vt:lpstr>Arial</vt:lpstr>
      <vt:lpstr>Century Schoolbook</vt:lpstr>
      <vt:lpstr>Wingdings 2</vt:lpstr>
      <vt:lpstr>View</vt:lpstr>
      <vt:lpstr>Whale Optimization Algorithm</vt:lpstr>
      <vt:lpstr>Uvod u optimizacione algoritme</vt:lpstr>
      <vt:lpstr>Metaheuristički algoritmi</vt:lpstr>
      <vt:lpstr>Inspiracija iz prirode</vt:lpstr>
      <vt:lpstr>Grbavi kitovi (Humpback whales)</vt:lpstr>
      <vt:lpstr>Osnovna ideja WOA algoritma</vt:lpstr>
      <vt:lpstr>Matematički model (intuicija)</vt:lpstr>
      <vt:lpstr>Faze WOA algoritma</vt:lpstr>
      <vt:lpstr>Zašto je WOA dobar izbor</vt:lpstr>
      <vt:lpstr>Poređenje sa PSO</vt:lpstr>
      <vt:lpstr>Poređenje sa GWO</vt:lpstr>
      <vt:lpstr>Primena WOA algoritma</vt:lpstr>
      <vt:lpstr>Prednosti i ograničenja</vt:lpstr>
      <vt:lpstr>Zaključak</vt:lpstr>
      <vt:lpstr>Hvala na pažnji!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Int5629</dc:creator>
  <cp:lastModifiedBy>Vukasin Popovic</cp:lastModifiedBy>
  <cp:revision>58</cp:revision>
  <dcterms:created xsi:type="dcterms:W3CDTF">2026-01-13T07:06:16Z</dcterms:created>
  <dcterms:modified xsi:type="dcterms:W3CDTF">2026-01-26T08:38:29Z</dcterms:modified>
</cp:coreProperties>
</file>