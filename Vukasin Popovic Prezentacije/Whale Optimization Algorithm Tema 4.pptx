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05B0792-8DCF-49E3-8199-5C19347ED2C6}" type="datetimeFigureOut">
              <a:rPr lang="en-GB" smtClean="0"/>
              <a:t>14.01.2026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92667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14.01.2026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136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14.01.2026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2623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14.01.2026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037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14.01.2026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28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14.01.2026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13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14.01.2026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04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14.01.2026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20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14.01.2026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25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14.01.2026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505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14.01.2026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74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05B0792-8DCF-49E3-8199-5C19347ED2C6}" type="datetimeFigureOut">
              <a:rPr lang="en-GB" smtClean="0"/>
              <a:t>14.01.2026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46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38091-97C3-2BE3-A213-3AE0857169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Whale Optimization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16450-98CA-B12C-6E7A-72E533E6A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Inspirisan strategijom lova grbavih kitova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CC9BA88-8365-9714-595A-669187529690}"/>
              </a:ext>
            </a:extLst>
          </p:cNvPr>
          <p:cNvSpPr txBox="1">
            <a:spLocks/>
          </p:cNvSpPr>
          <p:nvPr/>
        </p:nvSpPr>
        <p:spPr>
          <a:xfrm>
            <a:off x="1261872" y="5461959"/>
            <a:ext cx="9418320" cy="1691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RS"/>
              <a:t>Student:						      Mentor:</a:t>
            </a:r>
          </a:p>
          <a:p>
            <a:r>
              <a:rPr lang="sr-Latn-RS"/>
              <a:t>Vukašin Popović					      Leonid Stoimenov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928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C14C3-907E-29AC-F95C-1669C16C5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Uvod u optimizacione algoritme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2D52-3A99-FA6E-BFEE-88EAD6D94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Optimizacioni algoritmi se koriste za pronalaženje najboljeg rešenja u velikom prostoru mogućnosti.</a:t>
            </a:r>
          </a:p>
          <a:p>
            <a:r>
              <a:rPr lang="en-GB" sz="2400"/>
              <a:t>Posebno su važni u problemima gde:</a:t>
            </a:r>
          </a:p>
          <a:p>
            <a:pPr lvl="1"/>
            <a:r>
              <a:rPr lang="en-GB" sz="2200"/>
              <a:t>ne postoji analitičko rešenje</a:t>
            </a:r>
          </a:p>
          <a:p>
            <a:pPr lvl="1"/>
            <a:r>
              <a:rPr lang="en-GB" sz="2200"/>
              <a:t>prostor rešenja je nelinearan</a:t>
            </a:r>
          </a:p>
          <a:p>
            <a:pPr lvl="1"/>
            <a:r>
              <a:rPr lang="en-GB" sz="2200"/>
              <a:t>postoji više lokalnih optimuma</a:t>
            </a:r>
          </a:p>
        </p:txBody>
      </p:sp>
    </p:spTree>
    <p:extLst>
      <p:ext uri="{BB962C8B-B14F-4D97-AF65-F5344CB8AC3E}">
        <p14:creationId xmlns:p14="http://schemas.microsoft.com/office/powerpoint/2010/main" val="3454293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BB7EB-D298-660D-2528-7AE87262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Metaheuristički algoritmi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F21F9-1943-FD40-00A7-076C1EC95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/>
              <a:t>WOA pripada grupi </a:t>
            </a:r>
            <a:r>
              <a:rPr lang="en-GB" sz="2400" b="1"/>
              <a:t>metaheurističkih algoritama</a:t>
            </a:r>
            <a:r>
              <a:rPr lang="en-GB" sz="24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/>
              <a:t>Karakteristike metaheuristika: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/>
              <a:t>inspiracija iz prirode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/>
              <a:t>stohastičko pretraživanje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/>
              <a:t>balans između istraživanja i eksploatacije</a:t>
            </a:r>
          </a:p>
        </p:txBody>
      </p:sp>
    </p:spTree>
    <p:extLst>
      <p:ext uri="{BB962C8B-B14F-4D97-AF65-F5344CB8AC3E}">
        <p14:creationId xmlns:p14="http://schemas.microsoft.com/office/powerpoint/2010/main" val="571451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F220-DF98-3CF3-C00E-58730570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Inspiracija iz prirode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B91CD-BB4F-A831-42DD-37309A16F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Mnogi optimizacioni algoritmi su inspirisani prirodom:</a:t>
            </a:r>
          </a:p>
          <a:p>
            <a:pPr lvl="1"/>
            <a:r>
              <a:rPr lang="en-GB" sz="2400"/>
              <a:t>PSO – jata ptica</a:t>
            </a:r>
          </a:p>
          <a:p>
            <a:pPr lvl="1"/>
            <a:r>
              <a:rPr lang="en-GB" sz="2400"/>
              <a:t>GWO – čopori vukova</a:t>
            </a:r>
          </a:p>
          <a:p>
            <a:pPr lvl="1"/>
            <a:r>
              <a:rPr lang="en-GB" sz="2400"/>
              <a:t>ACO – kolonije mrava</a:t>
            </a:r>
          </a:p>
          <a:p>
            <a:pPr lvl="1"/>
            <a:r>
              <a:rPr lang="en-GB" sz="2400"/>
              <a:t>WOA – lov grbavih kitova</a:t>
            </a:r>
          </a:p>
        </p:txBody>
      </p:sp>
    </p:spTree>
    <p:extLst>
      <p:ext uri="{BB962C8B-B14F-4D97-AF65-F5344CB8AC3E}">
        <p14:creationId xmlns:p14="http://schemas.microsoft.com/office/powerpoint/2010/main" val="882435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0633-AEA7-2952-D5E4-2CC3F220C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Grbavi kitovi (Humpback whales)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7C638-5F71-23A7-7EA5-6E2D5A4F0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Grbavi kitovi su poznati po svojoj jedinstvenoj tehnici lova.</a:t>
            </a:r>
          </a:p>
          <a:p>
            <a:r>
              <a:rPr lang="en-GB" sz="2400"/>
              <a:t>Koriste koordinisano kretanje i mehuriće vazduha kako bi grupisali plen.</a:t>
            </a:r>
          </a:p>
        </p:txBody>
      </p:sp>
    </p:spTree>
    <p:extLst>
      <p:ext uri="{BB962C8B-B14F-4D97-AF65-F5344CB8AC3E}">
        <p14:creationId xmlns:p14="http://schemas.microsoft.com/office/powerpoint/2010/main" val="2198624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F7CAD-8B4C-1285-8CC2-3570580B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Bubble-net feeding strategija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8F25E-C058-2DA6-51EF-6F9F06158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400"/>
              <a:t>Bubble-net feeding je strategija u kojoj:</a:t>
            </a:r>
          </a:p>
          <a:p>
            <a:pPr lvl="1"/>
            <a:r>
              <a:rPr lang="en-GB" sz="2400"/>
              <a:t>kitovi kruže oko plena</a:t>
            </a:r>
            <a:endParaRPr lang="nl-NL" sz="2400"/>
          </a:p>
          <a:p>
            <a:pPr lvl="1"/>
            <a:r>
              <a:rPr lang="en-GB" sz="2400"/>
              <a:t>ispuštaju mehuriće</a:t>
            </a:r>
            <a:endParaRPr lang="nl-NL" sz="2400"/>
          </a:p>
          <a:p>
            <a:pPr lvl="1"/>
            <a:r>
              <a:rPr lang="en-GB" sz="2400"/>
              <a:t>postepeno smanjuju krug</a:t>
            </a:r>
          </a:p>
          <a:p>
            <a:pPr marL="274320" lvl="1" indent="0">
              <a:buNone/>
            </a:pPr>
            <a:endParaRPr lang="nl-NL" sz="2400"/>
          </a:p>
          <a:p>
            <a:r>
              <a:rPr lang="pl-PL" sz="2400"/>
              <a:t>Ova strategija je inspiracija za matematički model WOA algoritma.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518473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64943-34C1-C6F6-46D9-0256C5BB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Osnovna ideja WOA algoritma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34B29-D8D9-3BE4-0810-94F4A491B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U WOA algoritmu:</a:t>
            </a:r>
          </a:p>
          <a:p>
            <a:pPr lvl="1"/>
            <a:r>
              <a:rPr lang="en-GB" sz="2400"/>
              <a:t>svaki kit predstavlja jedno moguće rešenje</a:t>
            </a:r>
          </a:p>
          <a:p>
            <a:pPr lvl="1"/>
            <a:r>
              <a:rPr lang="en-GB" sz="2400"/>
              <a:t>najbolji kit predstavlja trenutno optimalno rešenje</a:t>
            </a:r>
          </a:p>
          <a:p>
            <a:pPr lvl="1"/>
            <a:r>
              <a:rPr lang="pl-PL" sz="2400"/>
              <a:t>ostali kitovi se pomeraju ka najboljem</a:t>
            </a:r>
            <a:endParaRPr lang="en-GB" sz="2400"/>
          </a:p>
          <a:p>
            <a:pPr lvl="1"/>
            <a:endParaRPr lang="en-GB" sz="2400" b="1"/>
          </a:p>
          <a:p>
            <a:r>
              <a:rPr lang="en-GB" sz="2400"/>
              <a:t>Cilj je pronaći globalni optimum.</a:t>
            </a:r>
            <a:endParaRPr lang="en-GB" sz="2400" b="1"/>
          </a:p>
        </p:txBody>
      </p:sp>
    </p:spTree>
    <p:extLst>
      <p:ext uri="{BB962C8B-B14F-4D97-AF65-F5344CB8AC3E}">
        <p14:creationId xmlns:p14="http://schemas.microsoft.com/office/powerpoint/2010/main" val="348730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645B-B86B-882D-5225-61E38303E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Matematički model (intuicija)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0BE1E-E56F-1792-BBBA-1588E08CC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400"/>
              <a:t>Kretanje kitova se modeluje:</a:t>
            </a:r>
          </a:p>
          <a:p>
            <a:pPr lvl="1"/>
            <a:r>
              <a:rPr lang="en-GB" sz="2400"/>
              <a:t>smanjivanjem distance do plena</a:t>
            </a:r>
          </a:p>
          <a:p>
            <a:pPr lvl="1"/>
            <a:r>
              <a:rPr lang="en-GB" sz="2400"/>
              <a:t>spiralnim kretanjem</a:t>
            </a:r>
          </a:p>
          <a:p>
            <a:pPr lvl="1"/>
            <a:r>
              <a:rPr lang="en-GB" sz="2400"/>
              <a:t>slučajnim istraživanjem prostora</a:t>
            </a:r>
          </a:p>
          <a:p>
            <a:r>
              <a:rPr lang="en-GB" sz="2400"/>
              <a:t>Model kombinuje eksploataciju i istraživanje.</a:t>
            </a:r>
          </a:p>
        </p:txBody>
      </p:sp>
    </p:spTree>
    <p:extLst>
      <p:ext uri="{BB962C8B-B14F-4D97-AF65-F5344CB8AC3E}">
        <p14:creationId xmlns:p14="http://schemas.microsoft.com/office/powerpoint/2010/main" val="3208852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EDED-5C40-2AD3-6CA2-AD78DD6CD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Faze WOA algoritma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9A75D-1680-258D-28C9-0BA32BA36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/>
              <a:t>WOA ima tri glavne faze: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GB" sz="2200"/>
              <a:t>hiljade sati govora</a:t>
            </a:r>
            <a:endParaRPr lang="sr-Latn-RS" sz="2200"/>
          </a:p>
          <a:p>
            <a:pPr marL="731520" lvl="1" indent="-457200">
              <a:buFont typeface="+mj-lt"/>
              <a:buAutoNum type="arabicPeriod"/>
            </a:pPr>
            <a:r>
              <a:rPr lang="en-GB" sz="2400"/>
              <a:t>engleski jezik</a:t>
            </a:r>
            <a:endParaRPr lang="sr-Latn-RS" sz="2400"/>
          </a:p>
          <a:p>
            <a:pPr marL="731520" lvl="1" indent="-457200">
              <a:buFont typeface="+mj-lt"/>
              <a:buAutoNum type="arabicPeriod"/>
            </a:pPr>
            <a:r>
              <a:rPr lang="en-GB" sz="2400"/>
              <a:t>audio knjige čitane naglas</a:t>
            </a:r>
            <a:endParaRPr lang="pl-PL" sz="2400"/>
          </a:p>
          <a:p>
            <a:r>
              <a:rPr lang="en-GB" sz="2400"/>
              <a:t>Ove faze se biraju stohastički.</a:t>
            </a:r>
          </a:p>
        </p:txBody>
      </p:sp>
    </p:spTree>
    <p:extLst>
      <p:ext uri="{BB962C8B-B14F-4D97-AF65-F5344CB8AC3E}">
        <p14:creationId xmlns:p14="http://schemas.microsoft.com/office/powerpoint/2010/main" val="1249922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C0CD5-4C86-27D2-74D5-BC1C1C668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Okruživanje plena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8FF6F-C0B1-CE77-D437-D881204AF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Kitovi pretpostavljaju da je najbolji trenutni kandidat plen.</a:t>
            </a:r>
          </a:p>
          <a:p>
            <a:r>
              <a:rPr lang="pl-PL" sz="2400"/>
              <a:t>Ostali kitovi prilagođavaju svoju poziciju u odnosu na njega.</a:t>
            </a:r>
            <a:endParaRPr lang="en-GB" sz="2400"/>
          </a:p>
          <a:p>
            <a:r>
              <a:rPr lang="en-GB" sz="2400"/>
              <a:t>Ovo predstavlja </a:t>
            </a:r>
            <a:r>
              <a:rPr lang="en-GB" sz="2400" b="1"/>
              <a:t>eksploataciju</a:t>
            </a:r>
            <a:r>
              <a:rPr lang="en-GB" sz="2400"/>
              <a:t> prostora rešenja.</a:t>
            </a:r>
          </a:p>
        </p:txBody>
      </p:sp>
    </p:spTree>
    <p:extLst>
      <p:ext uri="{BB962C8B-B14F-4D97-AF65-F5344CB8AC3E}">
        <p14:creationId xmlns:p14="http://schemas.microsoft.com/office/powerpoint/2010/main" val="380387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245BD-46E6-4CE2-4F09-A4A7AA1FF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Spiralno kretanje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915AE-B8A0-09D4-7BEC-E2201E091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Spiralno kretanje simulira:</a:t>
            </a:r>
          </a:p>
          <a:p>
            <a:pPr lvl="1"/>
            <a:r>
              <a:rPr lang="en-GB" sz="2400"/>
              <a:t>stvarno ponašanje kitova</a:t>
            </a:r>
          </a:p>
          <a:p>
            <a:pPr lvl="1"/>
            <a:r>
              <a:rPr lang="en-GB" sz="2400"/>
              <a:t>profesionalne govornike</a:t>
            </a:r>
            <a:endParaRPr lang="sr-Latn-RS" sz="2400"/>
          </a:p>
          <a:p>
            <a:pPr lvl="1"/>
            <a:r>
              <a:rPr lang="en-GB" sz="2400"/>
              <a:t>postepeno približavanje optimalnom rešenju</a:t>
            </a:r>
          </a:p>
          <a:p>
            <a:r>
              <a:rPr lang="en-GB" sz="2400"/>
              <a:t>Ova faza omogućava preciznije lokalno pretraživanje.</a:t>
            </a:r>
          </a:p>
        </p:txBody>
      </p:sp>
    </p:spTree>
    <p:extLst>
      <p:ext uri="{BB962C8B-B14F-4D97-AF65-F5344CB8AC3E}">
        <p14:creationId xmlns:p14="http://schemas.microsoft.com/office/powerpoint/2010/main" val="2098747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E6DC2-0813-501D-4A0F-31C815485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Istraživanje prostora (Exploration)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32236-4306-2BA3-AC3A-DE2BF967A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Istraživanje prostora (Exploration)</a:t>
            </a:r>
          </a:p>
          <a:p>
            <a:pPr lvl="1"/>
            <a:r>
              <a:rPr lang="pl-PL" sz="2400"/>
              <a:t>kitovi se pomeraju ka nasumičnim pozicijama</a:t>
            </a:r>
            <a:endParaRPr lang="en-US" sz="2400"/>
          </a:p>
          <a:p>
            <a:pPr lvl="1"/>
            <a:r>
              <a:rPr lang="en-GB" sz="2400"/>
              <a:t>povećava se raznovrsnost rešenja</a:t>
            </a:r>
          </a:p>
          <a:p>
            <a:r>
              <a:rPr lang="pl-PL" sz="2400"/>
              <a:t>Ovo je ključno za globalnu optimizaciju.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864942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76E85-E00E-D586-DE21-5401B945A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Zašto je WOA dobar izbor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0C052-B698-0216-32D9-02C0AC75A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Prednosti WOA algoritma:</a:t>
            </a:r>
          </a:p>
          <a:p>
            <a:pPr lvl="1"/>
            <a:r>
              <a:rPr lang="pl-PL" sz="2400"/>
              <a:t>jednostavan za razumevanje i implementaciju</a:t>
            </a:r>
            <a:endParaRPr lang="en-US" sz="2400"/>
          </a:p>
          <a:p>
            <a:pPr lvl="1"/>
            <a:r>
              <a:rPr lang="en-GB" sz="2400"/>
              <a:t>mali broj parametara</a:t>
            </a:r>
          </a:p>
          <a:p>
            <a:pPr lvl="1"/>
            <a:r>
              <a:rPr lang="fr-FR" sz="2400"/>
              <a:t>dobar balans između exploration i exploitation</a:t>
            </a:r>
          </a:p>
          <a:p>
            <a:r>
              <a:rPr lang="en-GB" sz="2400"/>
              <a:t>Zbog toga je čest izbor u istraživanju.</a:t>
            </a:r>
          </a:p>
        </p:txBody>
      </p:sp>
    </p:spTree>
    <p:extLst>
      <p:ext uri="{BB962C8B-B14F-4D97-AF65-F5344CB8AC3E}">
        <p14:creationId xmlns:p14="http://schemas.microsoft.com/office/powerpoint/2010/main" val="2676000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DF166-7193-DA31-8928-9F6BF204B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Poređenje sa PSO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9374C-BD28-3E19-2266-B5A364D31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PSO (Particle Swarm Optimization):</a:t>
            </a:r>
          </a:p>
          <a:p>
            <a:pPr lvl="1"/>
            <a:r>
              <a:rPr lang="en-GB" sz="2400"/>
              <a:t>brz u konvergenciji</a:t>
            </a:r>
          </a:p>
          <a:p>
            <a:pPr lvl="1"/>
            <a:r>
              <a:rPr lang="en-GB" sz="2400"/>
              <a:t>zavisi od brzine čestica</a:t>
            </a:r>
          </a:p>
          <a:p>
            <a:r>
              <a:rPr lang="en-GB" sz="2400"/>
              <a:t>WOA:</a:t>
            </a:r>
          </a:p>
          <a:p>
            <a:pPr lvl="1"/>
            <a:r>
              <a:rPr lang="en-GB" sz="2400"/>
              <a:t>jednostavnija dinamika</a:t>
            </a:r>
          </a:p>
          <a:p>
            <a:pPr lvl="1"/>
            <a:r>
              <a:rPr lang="en-GB" sz="2400"/>
              <a:t>manje parametara</a:t>
            </a:r>
          </a:p>
          <a:p>
            <a:pPr lvl="1"/>
            <a:r>
              <a:rPr lang="en-GB" sz="2400"/>
              <a:t>lakše podešavanje</a:t>
            </a:r>
          </a:p>
        </p:txBody>
      </p:sp>
    </p:spTree>
    <p:extLst>
      <p:ext uri="{BB962C8B-B14F-4D97-AF65-F5344CB8AC3E}">
        <p14:creationId xmlns:p14="http://schemas.microsoft.com/office/powerpoint/2010/main" val="3732614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040C-656E-08CF-40FC-7923FEDCA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Poređenje sa GWO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F8A82-5F0A-31E4-0886-E3D3CE93A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GWO (Grey Wolf Optimizer):</a:t>
            </a:r>
          </a:p>
          <a:p>
            <a:pPr lvl="1"/>
            <a:r>
              <a:rPr lang="en-GB" sz="2400"/>
              <a:t>hijerarhijska struktura</a:t>
            </a:r>
          </a:p>
          <a:p>
            <a:pPr lvl="1"/>
            <a:r>
              <a:rPr lang="sv-SE" sz="2400"/>
              <a:t>više vođa (alpha, beta, delta)</a:t>
            </a:r>
          </a:p>
          <a:p>
            <a:r>
              <a:rPr lang="en-GB" sz="2400"/>
              <a:t>WOA:</a:t>
            </a:r>
          </a:p>
          <a:p>
            <a:pPr lvl="1"/>
            <a:r>
              <a:rPr lang="en-GB" sz="2400"/>
              <a:t>jedan najbolji lider</a:t>
            </a:r>
          </a:p>
          <a:p>
            <a:pPr lvl="1"/>
            <a:r>
              <a:rPr lang="en-GB" sz="2400"/>
              <a:t>spiralna strategija kretanja</a:t>
            </a:r>
          </a:p>
          <a:p>
            <a:pPr lvl="1"/>
            <a:r>
              <a:rPr lang="en-GB" sz="2400"/>
              <a:t>jednostavniji model</a:t>
            </a:r>
          </a:p>
        </p:txBody>
      </p:sp>
    </p:spTree>
    <p:extLst>
      <p:ext uri="{BB962C8B-B14F-4D97-AF65-F5344CB8AC3E}">
        <p14:creationId xmlns:p14="http://schemas.microsoft.com/office/powerpoint/2010/main" val="230032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50EAE-B2A6-26FA-0693-11001E63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Primena: 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C6BDB-42B0-2C90-48CB-1477B54C8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sz="2400"/>
              <a:t>WOA se često koristi za:</a:t>
            </a:r>
          </a:p>
          <a:p>
            <a:pPr lvl="1"/>
            <a:r>
              <a:rPr lang="en-GB" sz="2400"/>
              <a:t>izbor optimalnog podskupa osobina</a:t>
            </a:r>
          </a:p>
          <a:p>
            <a:pPr lvl="1"/>
            <a:r>
              <a:rPr lang="en-GB" sz="2400"/>
              <a:t>smanjenje dimenzionalnosti</a:t>
            </a:r>
          </a:p>
          <a:p>
            <a:pPr lvl="1"/>
            <a:r>
              <a:rPr lang="en-GB" sz="2400"/>
              <a:t>poboljšanje performansi ML modela</a:t>
            </a:r>
          </a:p>
          <a:p>
            <a:r>
              <a:rPr lang="pl-PL" sz="2400"/>
              <a:t>Posebno u kombinaciji sa klasifikatorima.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472146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5849F-5131-47BB-9928-C9BA97F41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1359523"/>
          </a:xfrm>
        </p:spPr>
        <p:txBody>
          <a:bodyPr/>
          <a:lstStyle/>
          <a:p>
            <a:r>
              <a:rPr lang="en-GB"/>
              <a:t>Primena: Optimizacija hiperparametara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B5AE4-8124-865F-18FD-A5CD7AC99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WOA se koristi za:</a:t>
            </a:r>
          </a:p>
          <a:p>
            <a:pPr lvl="1"/>
            <a:r>
              <a:rPr lang="en-GB" sz="2400"/>
              <a:t>tuning neuronskih mreža</a:t>
            </a:r>
          </a:p>
          <a:p>
            <a:pPr lvl="1"/>
            <a:r>
              <a:rPr lang="en-GB" sz="2400"/>
              <a:t>izbor learning rate-a</a:t>
            </a:r>
          </a:p>
          <a:p>
            <a:pPr lvl="1"/>
            <a:r>
              <a:rPr lang="en-GB" sz="2400"/>
              <a:t>broj slojeva i neurona</a:t>
            </a:r>
          </a:p>
          <a:p>
            <a:r>
              <a:rPr lang="pl-PL" sz="2400"/>
              <a:t>Pomaže u automatizaciji ML procesa.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679871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E9DBE-BC2F-C35F-3B6B-F731956AE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Inženjerski problemi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D0F8D-18B8-4B84-7891-B37DBC05D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WOA je primenjen u:</a:t>
            </a:r>
          </a:p>
          <a:p>
            <a:pPr lvl="1"/>
            <a:r>
              <a:rPr lang="en-GB" sz="2400"/>
              <a:t>optimizaciji struktura</a:t>
            </a:r>
          </a:p>
          <a:p>
            <a:pPr lvl="1"/>
            <a:r>
              <a:rPr lang="en-GB" sz="2400"/>
              <a:t>energetskoj efikasnosti</a:t>
            </a:r>
          </a:p>
          <a:p>
            <a:pPr lvl="1"/>
            <a:r>
              <a:rPr lang="en-GB" sz="2400"/>
              <a:t>raspoređivanju resursa</a:t>
            </a:r>
          </a:p>
          <a:p>
            <a:r>
              <a:rPr lang="en-GB" sz="2400"/>
              <a:t>Posebno u nelinearnim problemima.</a:t>
            </a:r>
          </a:p>
        </p:txBody>
      </p:sp>
    </p:spTree>
    <p:extLst>
      <p:ext uri="{BB962C8B-B14F-4D97-AF65-F5344CB8AC3E}">
        <p14:creationId xmlns:p14="http://schemas.microsoft.com/office/powerpoint/2010/main" val="4236086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9815A-EEE8-B54B-4A69-65EEE9A4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Prednosti i ograničenja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D8A7A-40B8-A358-781D-B36A77E7E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Prednosti:</a:t>
            </a:r>
            <a:endParaRPr lang="pl-PL" sz="2400"/>
          </a:p>
          <a:p>
            <a:pPr lvl="1"/>
            <a:r>
              <a:rPr lang="en-GB" sz="2400"/>
              <a:t>jednostavna implementacija</a:t>
            </a:r>
          </a:p>
          <a:p>
            <a:pPr lvl="1"/>
            <a:r>
              <a:rPr lang="en-GB" sz="2400"/>
              <a:t>Fleksibilnost</a:t>
            </a:r>
          </a:p>
          <a:p>
            <a:pPr lvl="1"/>
            <a:r>
              <a:rPr lang="en-GB" sz="2400"/>
              <a:t>široka primena</a:t>
            </a:r>
          </a:p>
          <a:p>
            <a:r>
              <a:rPr lang="en-GB" sz="2400"/>
              <a:t>Ograničenja:</a:t>
            </a:r>
          </a:p>
          <a:p>
            <a:pPr lvl="1"/>
            <a:r>
              <a:rPr lang="en-GB" sz="2400"/>
              <a:t>sporija konvergencija u nekim slučajevima</a:t>
            </a:r>
          </a:p>
          <a:p>
            <a:pPr lvl="1"/>
            <a:r>
              <a:rPr lang="en-GB" sz="2400"/>
              <a:t>zavisi od inicijalne populacije</a:t>
            </a:r>
          </a:p>
        </p:txBody>
      </p:sp>
    </p:spTree>
    <p:extLst>
      <p:ext uri="{BB962C8B-B14F-4D97-AF65-F5344CB8AC3E}">
        <p14:creationId xmlns:p14="http://schemas.microsoft.com/office/powerpoint/2010/main" val="3759438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C6D56-A459-9DD6-C24F-2C9E1FA2F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Zaključak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CAFF4-F9DE-D853-B8FF-B8252CEC2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Whale Optimization Algorithm je moćan i intuitivan metaheuristički algoritam.</a:t>
            </a:r>
          </a:p>
          <a:p>
            <a:r>
              <a:rPr lang="en-GB" sz="2400"/>
              <a:t>Inspirisan prirodnim ponašanjem grbavih kitova, uspešno se primenjuje u ML i inženjerskim problemima.</a:t>
            </a:r>
          </a:p>
          <a:p>
            <a:r>
              <a:rPr lang="en-GB" sz="2400"/>
              <a:t>Zbog svoje jednostavnosti i fleksibilnosti, predstavlja dobar izbor za optimizacione zadatke.</a:t>
            </a:r>
          </a:p>
        </p:txBody>
      </p:sp>
    </p:spTree>
    <p:extLst>
      <p:ext uri="{BB962C8B-B14F-4D97-AF65-F5344CB8AC3E}">
        <p14:creationId xmlns:p14="http://schemas.microsoft.com/office/powerpoint/2010/main" val="549290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38091-97C3-2BE3-A213-3AE0857169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sr-Latn-RS"/>
              <a:t>Hvala na pažnji!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80732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77</TotalTime>
  <Words>544</Words>
  <Application>Microsoft Office PowerPoint</Application>
  <PresentationFormat>Widescreen</PresentationFormat>
  <Paragraphs>119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Century Schoolbook</vt:lpstr>
      <vt:lpstr>Wingdings 2</vt:lpstr>
      <vt:lpstr>View</vt:lpstr>
      <vt:lpstr>Whale Optimization Algorithm</vt:lpstr>
      <vt:lpstr>Uvod u optimizacione algoritme</vt:lpstr>
      <vt:lpstr>Metaheuristički algoritmi</vt:lpstr>
      <vt:lpstr>Inspiracija iz prirode</vt:lpstr>
      <vt:lpstr>Grbavi kitovi (Humpback whales)</vt:lpstr>
      <vt:lpstr>Bubble-net feeding strategija</vt:lpstr>
      <vt:lpstr>Osnovna ideja WOA algoritma</vt:lpstr>
      <vt:lpstr>Matematički model (intuicija)</vt:lpstr>
      <vt:lpstr>Faze WOA algoritma</vt:lpstr>
      <vt:lpstr>Okruživanje plena</vt:lpstr>
      <vt:lpstr>Spiralno kretanje</vt:lpstr>
      <vt:lpstr>Istraživanje prostora (Exploration)</vt:lpstr>
      <vt:lpstr>Zašto je WOA dobar izbor</vt:lpstr>
      <vt:lpstr>Poređenje sa PSO</vt:lpstr>
      <vt:lpstr>Poređenje sa GWO</vt:lpstr>
      <vt:lpstr>Primena: Feature Selection</vt:lpstr>
      <vt:lpstr>Primena: Optimizacija hiperparametara</vt:lpstr>
      <vt:lpstr>Inženjerski problemi</vt:lpstr>
      <vt:lpstr>Prednosti i ograničenja</vt:lpstr>
      <vt:lpstr>Zaključak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Int5629</dc:creator>
  <cp:lastModifiedBy>Int5629</cp:lastModifiedBy>
  <cp:revision>56</cp:revision>
  <dcterms:created xsi:type="dcterms:W3CDTF">2026-01-13T07:06:16Z</dcterms:created>
  <dcterms:modified xsi:type="dcterms:W3CDTF">2026-01-14T07:13:20Z</dcterms:modified>
</cp:coreProperties>
</file>