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926677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413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22623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03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8280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41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5047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20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225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1505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8747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05B0792-8DCF-49E3-8199-5C19347ED2C6}" type="datetimeFigureOut">
              <a:rPr lang="en-GB" smtClean="0"/>
              <a:t>13.01.2026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46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38091-97C3-2BE3-A213-3AE085716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err="1"/>
              <a:t>PyTorch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16450-98CA-B12C-6E7A-72E533E6A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n-NO"/>
              <a:t>Fleksibilna biblioteka za AI i Deep Learning</a:t>
            </a:r>
            <a:endParaRPr lang="en-GB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CC9BA88-8365-9714-595A-669187529690}"/>
              </a:ext>
            </a:extLst>
          </p:cNvPr>
          <p:cNvSpPr txBox="1">
            <a:spLocks/>
          </p:cNvSpPr>
          <p:nvPr/>
        </p:nvSpPr>
        <p:spPr>
          <a:xfrm>
            <a:off x="1261872" y="5461959"/>
            <a:ext cx="9418320" cy="1691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200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r-Latn-RS"/>
              <a:t>Student:						      Mentor:</a:t>
            </a:r>
          </a:p>
          <a:p>
            <a:r>
              <a:rPr lang="sr-Latn-RS"/>
              <a:t>Vukašin Popović					      Leonid Stoimenov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8928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C14C3-907E-29AC-F95C-1669C16C5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Uvod u PyTorch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2D52-3A99-FA6E-BFEE-88EAD6D94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/>
              <a:t>PyTorch je open-source biblioteka za mašinsko učenje i duboko učenje.</a:t>
            </a:r>
          </a:p>
          <a:p>
            <a:r>
              <a:rPr lang="en-GB" sz="2400"/>
              <a:t>Omogućava jednostavnu implementaciju neuronskih mreža i rad sa tenzorima.</a:t>
            </a:r>
          </a:p>
          <a:p>
            <a:r>
              <a:rPr lang="en-GB" sz="2400"/>
              <a:t>Posebno je popularan u istraživačkoj zajednici i akademiji</a:t>
            </a:r>
            <a:r>
              <a:rPr lang="en-GB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4293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B7EB-D298-660D-2528-7AE872626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Gde se PyTorch koristi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F21F9-1943-FD40-00A7-076C1EC95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Machine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Deep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Computer Vision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Natural Language Processing (NLP)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Istraživanje i industrijske AI aplikacije</a:t>
            </a:r>
          </a:p>
          <a:p>
            <a:r>
              <a:rPr lang="en-GB" sz="2400"/>
              <a:t>Koriste ga kompanije, univerziteti i istraživački centri širom sveta.</a:t>
            </a:r>
          </a:p>
          <a:p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5714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F220-DF98-3CF3-C00E-58730570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Kratka istorija PyTorch-a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B91CD-BB4F-A831-42DD-37309A16F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PyTorch je razvijen 2016. godine u okviru Facebook AI Research (FAIR) tima.</a:t>
            </a:r>
          </a:p>
          <a:p>
            <a:r>
              <a:rPr lang="en-GB" sz="2400"/>
              <a:t>Nastao je kao naslednik Torch biblioteke pisane u Lua jeziku.</a:t>
            </a:r>
          </a:p>
          <a:p>
            <a:r>
              <a:rPr lang="en-GB" sz="2400"/>
              <a:t>Cilj je bio jednostavnije i fleksibilnije istraživanje neuronskih mreža.</a:t>
            </a:r>
          </a:p>
        </p:txBody>
      </p:sp>
    </p:spTree>
    <p:extLst>
      <p:ext uri="{BB962C8B-B14F-4D97-AF65-F5344CB8AC3E}">
        <p14:creationId xmlns:p14="http://schemas.microsoft.com/office/powerpoint/2010/main" val="882435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A0633-AEA7-2952-D5E4-2CC3F220C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Prelazak iz Facebook-a u Meta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7C638-5F71-23A7-7EA5-6E2D5A4F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Facebook je 2021. godine promenio ime u </a:t>
            </a:r>
            <a:r>
              <a:rPr lang="en-GB" sz="2400" b="1"/>
              <a:t>Meta</a:t>
            </a:r>
            <a:r>
              <a:rPr lang="en-GB" sz="2400"/>
              <a:t>.</a:t>
            </a:r>
          </a:p>
          <a:p>
            <a:r>
              <a:rPr lang="en-GB" sz="2400"/>
              <a:t>PyTorch je i dalje aktivno razvijan pod Meta AI odeljenjem.</a:t>
            </a:r>
          </a:p>
          <a:p>
            <a:r>
              <a:rPr lang="en-GB" sz="2400"/>
              <a:t>Danas PyTorch ima snažnu open-source zajednicu i industrijsku podršku.</a:t>
            </a:r>
          </a:p>
        </p:txBody>
      </p:sp>
    </p:spTree>
    <p:extLst>
      <p:ext uri="{BB962C8B-B14F-4D97-AF65-F5344CB8AC3E}">
        <p14:creationId xmlns:p14="http://schemas.microsoft.com/office/powerpoint/2010/main" val="2198624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7CAD-8B4C-1285-8CC2-3570580B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Zašto je PyTorch popularan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8F25E-C058-2DA6-51EF-6F9F06158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Jednostavan Python sintaks</a:t>
            </a:r>
          </a:p>
          <a:p>
            <a:r>
              <a:rPr lang="en-GB" sz="2400"/>
              <a:t>Dinamički računarski graf</a:t>
            </a:r>
          </a:p>
          <a:p>
            <a:r>
              <a:rPr lang="en-GB" sz="2400"/>
              <a:t>Laka debagovanja grešaka</a:t>
            </a:r>
          </a:p>
          <a:p>
            <a:r>
              <a:rPr lang="en-GB" sz="2400"/>
              <a:t>Velika zajednica i dokumentacija</a:t>
            </a:r>
          </a:p>
          <a:p>
            <a:r>
              <a:rPr lang="en-GB" sz="2400"/>
              <a:t>Široka primena u istraživanju</a:t>
            </a:r>
          </a:p>
        </p:txBody>
      </p:sp>
    </p:spTree>
    <p:extLst>
      <p:ext uri="{BB962C8B-B14F-4D97-AF65-F5344CB8AC3E}">
        <p14:creationId xmlns:p14="http://schemas.microsoft.com/office/powerpoint/2010/main" val="518473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4943-34C1-C6F6-46D9-0256C5BB8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Osnovni koncepti u PyTorch-u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34B29-D8D9-3BE4-0810-94F4A491B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Tensor (osnovna struktura podataka)</a:t>
            </a:r>
          </a:p>
          <a:p>
            <a:r>
              <a:rPr lang="en-GB" sz="2400"/>
              <a:t>Autograd (automatsko računanje gradijenata)</a:t>
            </a:r>
          </a:p>
          <a:p>
            <a:r>
              <a:rPr lang="en-GB" sz="2400"/>
              <a:t>Neural Networks (torch.nn)</a:t>
            </a:r>
          </a:p>
          <a:p>
            <a:r>
              <a:rPr lang="en-GB" sz="2400"/>
              <a:t>Optimizeri (SGD, Adam, RMSprop)</a:t>
            </a:r>
            <a:endParaRPr lang="en-GB" sz="2400" b="1"/>
          </a:p>
        </p:txBody>
      </p:sp>
    </p:spTree>
    <p:extLst>
      <p:ext uri="{BB962C8B-B14F-4D97-AF65-F5344CB8AC3E}">
        <p14:creationId xmlns:p14="http://schemas.microsoft.com/office/powerpoint/2010/main" val="348730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7645B-B86B-882D-5225-61E38303E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0BE1E-E56F-1792-BBBA-1588E08CC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400"/>
              <a:t>Tensor je višedimenzionalni niz podataka.</a:t>
            </a:r>
          </a:p>
          <a:p>
            <a:r>
              <a:rPr lang="en-GB" sz="2400"/>
              <a:t>Može biti:</a:t>
            </a:r>
          </a:p>
          <a:p>
            <a:pPr lvl="1"/>
            <a:r>
              <a:rPr lang="en-GB" sz="2400"/>
              <a:t>skalar</a:t>
            </a:r>
          </a:p>
          <a:p>
            <a:pPr lvl="1"/>
            <a:r>
              <a:rPr lang="en-GB" sz="2400"/>
              <a:t>Vektor</a:t>
            </a:r>
          </a:p>
          <a:p>
            <a:pPr lvl="1"/>
            <a:r>
              <a:rPr lang="en-GB" sz="2400"/>
              <a:t>Matrica</a:t>
            </a:r>
          </a:p>
          <a:p>
            <a:pPr lvl="1"/>
            <a:r>
              <a:rPr lang="en-GB" sz="2400"/>
              <a:t>višedimenzionalni niz</a:t>
            </a:r>
          </a:p>
          <a:p>
            <a:r>
              <a:rPr lang="en-GB" sz="2400"/>
              <a:t>PyTorch tensor je sličan NumPy nizu, ali podržava GPU ubrzanje.</a:t>
            </a:r>
          </a:p>
          <a:p>
            <a:pPr marL="274320" lvl="1" indent="0">
              <a:buNone/>
            </a:pPr>
            <a:endParaRPr lang="en-GB" sz="2400"/>
          </a:p>
          <a:p>
            <a:pPr marL="274320" lvl="1" indent="0">
              <a:buNone/>
            </a:pP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3208852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2EDED-5C40-2AD3-6CA2-AD78DD6CD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PyTorch ekosistem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9A75D-1680-258D-28C9-0BA32BA36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/>
              <a:t>PyTorch nije samo jedna biblioteka, već ceo ekosistem alata:</a:t>
            </a:r>
            <a:endParaRPr lang="en-US" sz="2400"/>
          </a:p>
          <a:p>
            <a:pPr lvl="1"/>
            <a:r>
              <a:rPr lang="en-GB" sz="2400"/>
              <a:t>TorchVision</a:t>
            </a:r>
            <a:endParaRPr lang="en-US" sz="2400"/>
          </a:p>
          <a:p>
            <a:pPr lvl="1"/>
            <a:r>
              <a:rPr lang="en-GB" sz="2400"/>
              <a:t>TorchText</a:t>
            </a:r>
            <a:endParaRPr lang="en-US" sz="2400"/>
          </a:p>
          <a:p>
            <a:pPr lvl="1"/>
            <a:r>
              <a:rPr lang="en-GB" sz="2400"/>
              <a:t>TorchAudio</a:t>
            </a:r>
            <a:endParaRPr lang="en-US" sz="2400"/>
          </a:p>
          <a:p>
            <a:pPr lvl="1"/>
            <a:r>
              <a:rPr lang="en-GB" sz="2400"/>
              <a:t>PyTorch Lightning</a:t>
            </a:r>
          </a:p>
          <a:p>
            <a:pPr lvl="1"/>
            <a:r>
              <a:rPr lang="en-GB" sz="2400"/>
              <a:t>TorchServe</a:t>
            </a:r>
          </a:p>
        </p:txBody>
      </p:sp>
    </p:spTree>
    <p:extLst>
      <p:ext uri="{BB962C8B-B14F-4D97-AF65-F5344CB8AC3E}">
        <p14:creationId xmlns:p14="http://schemas.microsoft.com/office/powerpoint/2010/main" val="12499227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C0CD5-4C86-27D2-74D5-BC1C1C66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TorchVision (Computer Vision)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8FF6F-C0B1-CE77-D437-D881204AF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v-SE" sz="2400"/>
              <a:t>TorchVision je modul namenjen radu sa slikama i video zapisima.</a:t>
            </a:r>
          </a:p>
          <a:p>
            <a:r>
              <a:rPr lang="sv-SE" sz="2400"/>
              <a:t>Sadrži:</a:t>
            </a:r>
          </a:p>
          <a:p>
            <a:pPr lvl="1"/>
            <a:r>
              <a:rPr lang="en-GB" sz="2400"/>
              <a:t>popularne CV modele (ResNet, VGG, MobileNet)</a:t>
            </a:r>
            <a:endParaRPr lang="sv-SE" sz="2400"/>
          </a:p>
          <a:p>
            <a:pPr lvl="1"/>
            <a:r>
              <a:rPr lang="en-GB" sz="2400"/>
              <a:t>dataset-e (CIFAR-10, ImageNet)</a:t>
            </a:r>
            <a:endParaRPr lang="sv-SE" sz="2400"/>
          </a:p>
          <a:p>
            <a:pPr lvl="1"/>
            <a:r>
              <a:rPr lang="en-GB" sz="2400"/>
              <a:t>transformacije slika (resize, normalize)</a:t>
            </a:r>
          </a:p>
        </p:txBody>
      </p:sp>
    </p:spTree>
    <p:extLst>
      <p:ext uri="{BB962C8B-B14F-4D97-AF65-F5344CB8AC3E}">
        <p14:creationId xmlns:p14="http://schemas.microsoft.com/office/powerpoint/2010/main" val="380387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245BD-46E6-4CE2-4F09-A4A7AA1F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TorchText (NLP)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915AE-B8A0-09D4-7BEC-E2201E091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/>
              <a:t>TorchText je alat za obradu tekstualnih podataka.</a:t>
            </a:r>
            <a:endParaRPr lang="en-US" sz="2400"/>
          </a:p>
          <a:p>
            <a:r>
              <a:rPr lang="pl-PL" sz="2400"/>
              <a:t>Omogućava:</a:t>
            </a:r>
            <a:endParaRPr lang="en-US" sz="2400"/>
          </a:p>
          <a:p>
            <a:pPr lvl="1"/>
            <a:r>
              <a:rPr lang="en-GB" sz="2400"/>
              <a:t>tokenizaciju teksta</a:t>
            </a:r>
            <a:endParaRPr lang="en-US" sz="2400"/>
          </a:p>
          <a:p>
            <a:pPr lvl="1"/>
            <a:r>
              <a:rPr lang="en-GB" sz="2400"/>
              <a:t>rad sa rečnicima i embedding-ovima</a:t>
            </a:r>
            <a:endParaRPr lang="en-US" sz="2400"/>
          </a:p>
          <a:p>
            <a:pPr lvl="1"/>
            <a:r>
              <a:rPr lang="pl-PL" sz="2400"/>
              <a:t>pripremu podataka za NLP modele</a:t>
            </a:r>
            <a:endParaRPr lang="en-US" sz="2400"/>
          </a:p>
          <a:p>
            <a:pPr lvl="1"/>
            <a:endParaRPr lang="en-GB" sz="2400"/>
          </a:p>
          <a:p>
            <a:r>
              <a:rPr lang="it-IT" sz="2400"/>
              <a:t>Koristi se u analizi teksta, sentiment analizi i prevodu.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2098747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E6DC2-0813-501D-4A0F-31C815485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TorchAudio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32236-4306-2BA3-AC3A-DE2BF967A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/>
              <a:t>TorchAudio je modul za obradu zvuka.</a:t>
            </a:r>
            <a:endParaRPr lang="en-US" sz="2400"/>
          </a:p>
          <a:p>
            <a:r>
              <a:rPr lang="pl-PL" sz="2400"/>
              <a:t>Podržava:</a:t>
            </a:r>
            <a:endParaRPr lang="en-US" sz="2400"/>
          </a:p>
          <a:p>
            <a:pPr lvl="1"/>
            <a:r>
              <a:rPr lang="en-GB" sz="2400"/>
              <a:t>učitavanje audio signala</a:t>
            </a:r>
            <a:endParaRPr lang="en-US" sz="2400"/>
          </a:p>
          <a:p>
            <a:pPr lvl="1"/>
            <a:r>
              <a:rPr lang="en-GB" sz="2400"/>
              <a:t>transformacije (spectrogram, MFCC)</a:t>
            </a:r>
            <a:endParaRPr lang="en-US" sz="2400"/>
          </a:p>
          <a:p>
            <a:pPr lvl="1"/>
            <a:r>
              <a:rPr lang="en-GB" sz="2400"/>
              <a:t>modele za prepoznavanje govora</a:t>
            </a:r>
            <a:endParaRPr lang="en-US" sz="2400"/>
          </a:p>
          <a:p>
            <a:pPr lvl="1"/>
            <a:endParaRPr lang="en-US" sz="2400"/>
          </a:p>
          <a:p>
            <a:r>
              <a:rPr lang="en-GB" sz="2400"/>
              <a:t>Koristi se u speech recognition sistemima.</a:t>
            </a:r>
          </a:p>
        </p:txBody>
      </p:sp>
    </p:spTree>
    <p:extLst>
      <p:ext uri="{BB962C8B-B14F-4D97-AF65-F5344CB8AC3E}">
        <p14:creationId xmlns:p14="http://schemas.microsoft.com/office/powerpoint/2010/main" val="3864942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76E85-E00E-D586-DE21-5401B945A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PyTorch u Computer Vision-u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0C052-B698-0216-32D9-02C0AC75A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Primeri primene:</a:t>
            </a:r>
          </a:p>
          <a:p>
            <a:pPr lvl="1"/>
            <a:r>
              <a:rPr lang="en-GB" sz="2400"/>
              <a:t>prepoznavanje objekata</a:t>
            </a:r>
          </a:p>
          <a:p>
            <a:pPr lvl="1"/>
            <a:r>
              <a:rPr lang="en-GB" sz="2400"/>
              <a:t>klasifikacija slika</a:t>
            </a:r>
          </a:p>
          <a:p>
            <a:pPr lvl="1"/>
            <a:r>
              <a:rPr lang="en-GB" sz="2400"/>
              <a:t>segmentacija slike</a:t>
            </a:r>
          </a:p>
          <a:p>
            <a:pPr lvl="1"/>
            <a:r>
              <a:rPr lang="en-GB" sz="2400"/>
              <a:t>detekcija lica</a:t>
            </a:r>
          </a:p>
          <a:p>
            <a:r>
              <a:rPr lang="sv-SE" sz="2400"/>
              <a:t>PyTorch se često koristi u istraživanju autonomnih vozila i medicinskih slika.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2676000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DF166-7193-DA31-8928-9F6BF204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PyTorch u NLP-u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9374C-BD28-3E19-2266-B5A364D31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Primeri primene:</a:t>
            </a:r>
          </a:p>
          <a:p>
            <a:pPr lvl="1"/>
            <a:r>
              <a:rPr lang="en-GB" sz="2400"/>
              <a:t>analiza sentimenta</a:t>
            </a:r>
          </a:p>
          <a:p>
            <a:pPr lvl="1"/>
            <a:r>
              <a:rPr lang="en-GB" sz="2400"/>
              <a:t>mašinsko prevođenje</a:t>
            </a:r>
          </a:p>
          <a:p>
            <a:pPr lvl="1"/>
            <a:r>
              <a:rPr lang="en-GB" sz="2400"/>
              <a:t>chat-bot sistemi</a:t>
            </a:r>
          </a:p>
          <a:p>
            <a:pPr lvl="1"/>
            <a:r>
              <a:rPr lang="en-GB" sz="2400"/>
              <a:t>obrada prirodnog jezika</a:t>
            </a:r>
          </a:p>
          <a:p>
            <a:r>
              <a:rPr lang="en-GB" sz="2400"/>
              <a:t>PyTorch je osnova mnogih modernih NLP modela (BERT, GPT varijante).</a:t>
            </a:r>
          </a:p>
        </p:txBody>
      </p:sp>
    </p:spTree>
    <p:extLst>
      <p:ext uri="{BB962C8B-B14F-4D97-AF65-F5344CB8AC3E}">
        <p14:creationId xmlns:p14="http://schemas.microsoft.com/office/powerpoint/2010/main" val="3732614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8040C-656E-08CF-40FC-7923FEDCA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Dinamički računarski graf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F8A82-5F0A-31E4-0886-E3D3CE93A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PyTorch koristi </a:t>
            </a:r>
            <a:r>
              <a:rPr lang="en-GB" sz="2400" b="1"/>
              <a:t>dinamički graf</a:t>
            </a:r>
            <a:r>
              <a:rPr lang="en-GB" sz="2400"/>
              <a:t> (define-by-run).</a:t>
            </a:r>
          </a:p>
          <a:p>
            <a:r>
              <a:rPr lang="en-GB" sz="2400"/>
              <a:t>Graf se kreira tokom izvršavanja programa.</a:t>
            </a:r>
          </a:p>
          <a:p>
            <a:r>
              <a:rPr lang="en-GB" sz="2400"/>
              <a:t>To omogućava:</a:t>
            </a:r>
          </a:p>
          <a:p>
            <a:pPr lvl="1"/>
            <a:r>
              <a:rPr lang="en-GB" sz="2400"/>
              <a:t>lakše eksperimentisanje</a:t>
            </a:r>
          </a:p>
          <a:p>
            <a:pPr lvl="1"/>
            <a:r>
              <a:rPr lang="en-GB" sz="2400"/>
              <a:t>fleksibilne modele</a:t>
            </a:r>
          </a:p>
          <a:p>
            <a:pPr lvl="1"/>
            <a:r>
              <a:rPr lang="en-GB" sz="2400"/>
              <a:t>jednostavno debagovanje</a:t>
            </a:r>
          </a:p>
        </p:txBody>
      </p:sp>
    </p:spTree>
    <p:extLst>
      <p:ext uri="{BB962C8B-B14F-4D97-AF65-F5344CB8AC3E}">
        <p14:creationId xmlns:p14="http://schemas.microsoft.com/office/powerpoint/2010/main" val="2300326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50EAE-B2A6-26FA-0693-11001E635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PyTorch vs TensorFlow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C6BDB-42B0-2C90-48CB-1477B54C8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PyTorch:</a:t>
            </a:r>
          </a:p>
          <a:p>
            <a:pPr lvl="1"/>
            <a:r>
              <a:rPr lang="en-GB" sz="2400"/>
              <a:t>dinamički graf</a:t>
            </a:r>
          </a:p>
          <a:p>
            <a:pPr lvl="1"/>
            <a:r>
              <a:rPr lang="en-GB" sz="2400"/>
              <a:t>jednostavniji za učenje</a:t>
            </a:r>
          </a:p>
          <a:p>
            <a:pPr lvl="1"/>
            <a:r>
              <a:rPr lang="en-GB" sz="2400"/>
              <a:t>bolji za istraživanje</a:t>
            </a:r>
          </a:p>
          <a:p>
            <a:r>
              <a:rPr lang="en-GB" sz="2400"/>
              <a:t>TensorFlow:</a:t>
            </a:r>
          </a:p>
          <a:p>
            <a:pPr lvl="1"/>
            <a:r>
              <a:rPr lang="en-GB" sz="2400"/>
              <a:t>statički graf (u početku)</a:t>
            </a:r>
          </a:p>
          <a:p>
            <a:pPr lvl="1"/>
            <a:r>
              <a:rPr lang="en-GB" sz="2400"/>
              <a:t>češće korišćen u produkciji</a:t>
            </a:r>
          </a:p>
          <a:p>
            <a:pPr lvl="1"/>
            <a:r>
              <a:rPr lang="en-GB" sz="2400"/>
              <a:t>kompleksniji API</a:t>
            </a:r>
          </a:p>
          <a:p>
            <a:r>
              <a:rPr lang="pl-PL" sz="2400"/>
              <a:t>Danas se razlike smanjuju, ali PyTorch ostaje popularniji u akademiji.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14721467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5849F-5131-47BB-9928-C9BA97F41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Demonstracija jednostavnog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B5AE4-8124-865F-18FD-A5CD7AC99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/>
              <a:t>Jednostavan neural network u PyTorch-u:</a:t>
            </a:r>
            <a:endParaRPr lang="en-US" sz="2400"/>
          </a:p>
          <a:p>
            <a:pPr lvl="1"/>
            <a:r>
              <a:rPr lang="en-GB" sz="2400"/>
              <a:t>ulazni sloj</a:t>
            </a:r>
            <a:endParaRPr lang="en-US" sz="2400"/>
          </a:p>
          <a:p>
            <a:pPr lvl="1"/>
            <a:r>
              <a:rPr lang="en-GB" sz="2400"/>
              <a:t>skriveni sloj</a:t>
            </a:r>
            <a:endParaRPr lang="en-US" sz="2400"/>
          </a:p>
          <a:p>
            <a:pPr lvl="1"/>
            <a:r>
              <a:rPr lang="en-GB" sz="2400"/>
              <a:t>izlazni sloj</a:t>
            </a:r>
            <a:endParaRPr lang="en-US" sz="2400"/>
          </a:p>
          <a:p>
            <a:r>
              <a:rPr lang="it-IT" sz="2400"/>
              <a:t>Model se definiše pomoću torch.nn.Module.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2679871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9DBE-BC2F-C35F-3B6B-F731956AE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Koraci treniranja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D0F8D-18B8-4B84-7891-B37DBC05D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/>
              <a:t>Definisanje modela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/>
              <a:t>Izbor loss funkcije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/>
              <a:t>Izbor optimizatora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/>
              <a:t>Treniranje na podacima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/>
              <a:t>Evaluacija rezultata</a:t>
            </a:r>
          </a:p>
          <a:p>
            <a:r>
              <a:rPr lang="pl-PL" sz="2400"/>
              <a:t>Ovaj proces je jasan i čitljiv u PyTorch-u.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42360868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9815A-EEE8-B54B-4A69-65EEE9A4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Prednosti i ograničenja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D8A7A-40B8-A358-781D-B36A77E7E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Prednosti:</a:t>
            </a:r>
          </a:p>
          <a:p>
            <a:pPr lvl="1"/>
            <a:r>
              <a:rPr lang="en-GB" sz="2400"/>
              <a:t>Fleksibilnost</a:t>
            </a:r>
          </a:p>
          <a:p>
            <a:pPr lvl="1"/>
            <a:r>
              <a:rPr lang="sr-Latn-RS" sz="2400"/>
              <a:t>Č</a:t>
            </a:r>
            <a:r>
              <a:rPr lang="en-GB" sz="2400"/>
              <a:t>itljiv kod</a:t>
            </a:r>
          </a:p>
          <a:p>
            <a:pPr lvl="1"/>
            <a:r>
              <a:rPr lang="sr-Latn-RS" sz="2400"/>
              <a:t>J</a:t>
            </a:r>
            <a:r>
              <a:rPr lang="en-GB" sz="2400"/>
              <a:t>aka zajednica</a:t>
            </a:r>
          </a:p>
          <a:p>
            <a:r>
              <a:rPr lang="en-GB" sz="2400"/>
              <a:t>Ograničenja:</a:t>
            </a:r>
            <a:endParaRPr lang="sr-Latn-RS" sz="2400"/>
          </a:p>
          <a:p>
            <a:pPr lvl="1"/>
            <a:r>
              <a:rPr lang="pl-PL" sz="2400"/>
              <a:t>nešto slabija produkcijska podrška (ranije)</a:t>
            </a:r>
            <a:endParaRPr lang="sr-Latn-RS" sz="2400"/>
          </a:p>
          <a:p>
            <a:pPr lvl="1"/>
            <a:r>
              <a:rPr lang="en-GB" sz="2400"/>
              <a:t>veća potrošnja memorije u nekim slučajevima</a:t>
            </a:r>
          </a:p>
        </p:txBody>
      </p:sp>
    </p:spTree>
    <p:extLst>
      <p:ext uri="{BB962C8B-B14F-4D97-AF65-F5344CB8AC3E}">
        <p14:creationId xmlns:p14="http://schemas.microsoft.com/office/powerpoint/2010/main" val="375943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C6D56-A459-9DD6-C24F-2C9E1FA2F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Zaključak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CAFF4-F9DE-D853-B8FF-B8252CEC2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/>
              <a:t>PyTorch je moćna i fleksibilna biblioteka za AI i Deep Learning.</a:t>
            </a:r>
          </a:p>
          <a:p>
            <a:r>
              <a:rPr lang="pl-PL" sz="2400"/>
              <a:t>Posebno je pogodna za:</a:t>
            </a:r>
          </a:p>
          <a:p>
            <a:pPr lvl="1"/>
            <a:r>
              <a:rPr lang="en-GB" sz="2400"/>
              <a:t>Istraživanje</a:t>
            </a:r>
            <a:endParaRPr lang="pl-PL" sz="2400"/>
          </a:p>
          <a:p>
            <a:pPr lvl="1"/>
            <a:r>
              <a:rPr lang="en-GB" sz="2400"/>
              <a:t>Učenje</a:t>
            </a:r>
            <a:endParaRPr lang="pl-PL" sz="2400"/>
          </a:p>
          <a:p>
            <a:pPr lvl="1"/>
            <a:r>
              <a:rPr lang="sr-Latn-RS" sz="2400"/>
              <a:t>B</a:t>
            </a:r>
            <a:r>
              <a:rPr lang="en-GB" sz="2400"/>
              <a:t>rzu izradu prototipa</a:t>
            </a:r>
            <a:endParaRPr lang="pl-PL" sz="2400"/>
          </a:p>
          <a:p>
            <a:r>
              <a:rPr lang="en-GB" sz="2400"/>
              <a:t>Zbog svoje jednostavnosti i ekosistema, PyTorch je danas jedan od standarda u oblasti veštačke inteligencije.</a:t>
            </a:r>
          </a:p>
        </p:txBody>
      </p:sp>
    </p:spTree>
    <p:extLst>
      <p:ext uri="{BB962C8B-B14F-4D97-AF65-F5344CB8AC3E}">
        <p14:creationId xmlns:p14="http://schemas.microsoft.com/office/powerpoint/2010/main" val="549290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38091-97C3-2BE3-A213-3AE085716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lang="sr-Latn-RS"/>
              <a:t>Hvala na pažnji!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807320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22</TotalTime>
  <Words>617</Words>
  <Application>Microsoft Office PowerPoint</Application>
  <PresentationFormat>Widescreen</PresentationFormat>
  <Paragraphs>131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Century Schoolbook</vt:lpstr>
      <vt:lpstr>Wingdings 2</vt:lpstr>
      <vt:lpstr>View</vt:lpstr>
      <vt:lpstr>PyTorch</vt:lpstr>
      <vt:lpstr>Uvod u PyTorch</vt:lpstr>
      <vt:lpstr>Gde se PyTorch koristi</vt:lpstr>
      <vt:lpstr>Kratka istorija PyTorch-a</vt:lpstr>
      <vt:lpstr>Prelazak iz Facebook-a u Meta</vt:lpstr>
      <vt:lpstr>Zašto je PyTorch popularan</vt:lpstr>
      <vt:lpstr>Osnovni koncepti u PyTorch-u</vt:lpstr>
      <vt:lpstr>Tensor</vt:lpstr>
      <vt:lpstr>PyTorch ekosistem</vt:lpstr>
      <vt:lpstr>TorchVision (Computer Vision)</vt:lpstr>
      <vt:lpstr>TorchText (NLP)</vt:lpstr>
      <vt:lpstr>TorchAudio</vt:lpstr>
      <vt:lpstr>PyTorch u Computer Vision-u</vt:lpstr>
      <vt:lpstr>PyTorch u NLP-u</vt:lpstr>
      <vt:lpstr>Dinamički računarski graf</vt:lpstr>
      <vt:lpstr>PyTorch vs TensorFlow</vt:lpstr>
      <vt:lpstr>Demonstracija jednostavnog modela</vt:lpstr>
      <vt:lpstr>Koraci treniranja modela</vt:lpstr>
      <vt:lpstr>Prednosti i ograničenja</vt:lpstr>
      <vt:lpstr>Zaključak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Int5629</dc:creator>
  <cp:lastModifiedBy>Int5629</cp:lastModifiedBy>
  <cp:revision>19</cp:revision>
  <dcterms:created xsi:type="dcterms:W3CDTF">2026-01-13T07:06:16Z</dcterms:created>
  <dcterms:modified xsi:type="dcterms:W3CDTF">2026-01-13T07:29:00Z</dcterms:modified>
</cp:coreProperties>
</file>