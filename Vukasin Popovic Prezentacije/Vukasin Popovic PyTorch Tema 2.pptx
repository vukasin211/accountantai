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0" r:id="rId9"/>
    <p:sldId id="277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92667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13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2623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03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28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13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04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20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25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50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74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05B0792-8DCF-49E3-8199-5C19347ED2C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46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8091-97C3-2BE3-A213-3AE085716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err="1"/>
              <a:t>PyTorch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16450-98CA-B12C-6E7A-72E533E6A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n-NO"/>
              <a:t>Fleksibilna biblioteka za AI i Deep Learning</a:t>
            </a: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CC9BA88-8365-9714-595A-669187529690}"/>
              </a:ext>
            </a:extLst>
          </p:cNvPr>
          <p:cNvSpPr txBox="1">
            <a:spLocks/>
          </p:cNvSpPr>
          <p:nvPr/>
        </p:nvSpPr>
        <p:spPr>
          <a:xfrm>
            <a:off x="1261872" y="5461959"/>
            <a:ext cx="9418320" cy="1691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/>
              <a:t>Student:						      Mentor:</a:t>
            </a:r>
          </a:p>
          <a:p>
            <a:r>
              <a:rPr lang="sr-Latn-RS"/>
              <a:t>Vukašin Popović					      Leonid Stoimenov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928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C14C3-907E-29AC-F95C-1669C16C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Uvod u PyTorch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2D52-3A99-FA6E-BFEE-88EAD6D94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/>
              <a:t>PyTorch je open-source biblioteka za mašinsko učenje i duboko učenje.</a:t>
            </a:r>
          </a:p>
          <a:p>
            <a:r>
              <a:rPr lang="en-GB" sz="2400"/>
              <a:t>Omogućava jednostavnu implementaciju neuronskih mreža i rad sa tenzorima.</a:t>
            </a:r>
          </a:p>
          <a:p>
            <a:r>
              <a:rPr lang="en-GB" sz="2400"/>
              <a:t>Posebno je popularan u istraživačkoj zajednici i akademiji</a:t>
            </a:r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429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B7EB-D298-660D-2528-7AE87262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Gde se PyTorch koristi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F21F9-1943-FD40-00A7-076C1EC95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/>
              <a:t>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/>
              <a:t>Deep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/>
              <a:t>Computer 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/>
              <a:t>Natural Language Processing (NLP)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/>
              <a:t>Istraživanje i industrijske AI aplikacije</a:t>
            </a:r>
          </a:p>
          <a:p>
            <a:r>
              <a:rPr lang="en-GB" sz="2400"/>
              <a:t>Koriste ga kompanije, univerziteti i istraživački centri širom sveta.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57145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F220-DF98-3CF3-C00E-58730570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Kratka istorija PyTorch-a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91CD-BB4F-A831-42DD-37309A16F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PyTorch je razvijen 2016. godine u okviru Facebook AI Research (FAIR) tima.</a:t>
            </a:r>
          </a:p>
          <a:p>
            <a:r>
              <a:rPr lang="en-GB" sz="2400"/>
              <a:t>Nastao je kao naslednik Torch biblioteke pisane u Lua jeziku.</a:t>
            </a:r>
          </a:p>
          <a:p>
            <a:r>
              <a:rPr lang="en-GB" sz="2400"/>
              <a:t>Cilj je bio jednostavnije i fleksibilnije istraživanje neuronskih mreža.</a:t>
            </a:r>
          </a:p>
        </p:txBody>
      </p:sp>
    </p:spTree>
    <p:extLst>
      <p:ext uri="{BB962C8B-B14F-4D97-AF65-F5344CB8AC3E}">
        <p14:creationId xmlns:p14="http://schemas.microsoft.com/office/powerpoint/2010/main" val="882435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7CAD-8B4C-1285-8CC2-3570580B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Zašto je PyTorch popularan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8F25E-C058-2DA6-51EF-6F9F06158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Jednostavan Python sintaks</a:t>
            </a:r>
          </a:p>
          <a:p>
            <a:r>
              <a:rPr lang="en-GB" sz="2400"/>
              <a:t>Dinamički računarski graf</a:t>
            </a:r>
          </a:p>
          <a:p>
            <a:r>
              <a:rPr lang="en-GB" sz="2400"/>
              <a:t>Laka debagovanja grešaka</a:t>
            </a:r>
          </a:p>
          <a:p>
            <a:r>
              <a:rPr lang="en-GB" sz="2400"/>
              <a:t>Velika zajednica i dokumentacija</a:t>
            </a:r>
          </a:p>
          <a:p>
            <a:r>
              <a:rPr lang="en-GB" sz="2400"/>
              <a:t>Široka primena u istraživanju</a:t>
            </a:r>
          </a:p>
        </p:txBody>
      </p:sp>
    </p:spTree>
    <p:extLst>
      <p:ext uri="{BB962C8B-B14F-4D97-AF65-F5344CB8AC3E}">
        <p14:creationId xmlns:p14="http://schemas.microsoft.com/office/powerpoint/2010/main" val="518473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4943-34C1-C6F6-46D9-0256C5BB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Osnovni koncepti u PyTorch-u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34B29-D8D9-3BE4-0810-94F4A491B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Tensor (osnovna struktura podataka)</a:t>
            </a:r>
          </a:p>
          <a:p>
            <a:r>
              <a:rPr lang="en-GB" sz="2400"/>
              <a:t>Autograd (automatsko računanje gradijenata)</a:t>
            </a:r>
          </a:p>
          <a:p>
            <a:r>
              <a:rPr lang="en-GB" sz="2400"/>
              <a:t>Neural Networks (torch.nn)</a:t>
            </a:r>
          </a:p>
          <a:p>
            <a:r>
              <a:rPr lang="en-GB" sz="2400"/>
              <a:t>Optimizeri (SGD, Adam, RMSprop)</a:t>
            </a: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348730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645B-B86B-882D-5225-61E38303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0BE1E-E56F-1792-BBBA-1588E08CC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/>
              <a:t>Tensor je višedimenzionalni niz podataka.</a:t>
            </a:r>
          </a:p>
          <a:p>
            <a:r>
              <a:rPr lang="en-GB" sz="2400"/>
              <a:t>Može biti:</a:t>
            </a:r>
          </a:p>
          <a:p>
            <a:pPr lvl="1"/>
            <a:r>
              <a:rPr lang="en-GB" sz="2400"/>
              <a:t>skalar</a:t>
            </a:r>
          </a:p>
          <a:p>
            <a:pPr lvl="1"/>
            <a:r>
              <a:rPr lang="en-GB" sz="2400"/>
              <a:t>Vektor</a:t>
            </a:r>
          </a:p>
          <a:p>
            <a:pPr lvl="1"/>
            <a:r>
              <a:rPr lang="en-GB" sz="2400"/>
              <a:t>Matrica</a:t>
            </a:r>
          </a:p>
          <a:p>
            <a:pPr lvl="1"/>
            <a:r>
              <a:rPr lang="en-GB" sz="2400"/>
              <a:t>višedimenzionalni niz</a:t>
            </a:r>
          </a:p>
          <a:p>
            <a:r>
              <a:rPr lang="en-GB" sz="2400"/>
              <a:t>PyTorch tensor je sličan NumPy nizu, ali podržava GPU ubrzanje.</a:t>
            </a:r>
          </a:p>
          <a:p>
            <a:pPr marL="274320" lvl="1" indent="0">
              <a:buNone/>
            </a:pPr>
            <a:endParaRPr lang="en-GB" sz="2400"/>
          </a:p>
          <a:p>
            <a:pPr marL="274320" lvl="1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208852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040C-656E-08CF-40FC-7923FEDC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Dinamički računarski graf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F8A82-5F0A-31E4-0886-E3D3CE93A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PyTorch koristi </a:t>
            </a:r>
            <a:r>
              <a:rPr lang="en-GB" sz="2400" b="1"/>
              <a:t>dinamički graf</a:t>
            </a:r>
            <a:r>
              <a:rPr lang="en-GB" sz="2400"/>
              <a:t> (define-by-run).</a:t>
            </a:r>
          </a:p>
          <a:p>
            <a:r>
              <a:rPr lang="en-GB" sz="2400"/>
              <a:t>Graf se kreira tokom izvršavanja programa.</a:t>
            </a:r>
          </a:p>
          <a:p>
            <a:r>
              <a:rPr lang="en-GB" sz="2400"/>
              <a:t>To omogućava:</a:t>
            </a:r>
          </a:p>
          <a:p>
            <a:pPr lvl="1"/>
            <a:r>
              <a:rPr lang="en-GB" sz="2400"/>
              <a:t>lakše eksperimentisanje</a:t>
            </a:r>
          </a:p>
          <a:p>
            <a:pPr lvl="1"/>
            <a:r>
              <a:rPr lang="en-GB" sz="2400"/>
              <a:t>fleksibilne modele</a:t>
            </a:r>
          </a:p>
          <a:p>
            <a:pPr lvl="1"/>
            <a:r>
              <a:rPr lang="en-GB" sz="2400"/>
              <a:t>jednostavno debagovanje</a:t>
            </a:r>
          </a:p>
        </p:txBody>
      </p:sp>
    </p:spTree>
    <p:extLst>
      <p:ext uri="{BB962C8B-B14F-4D97-AF65-F5344CB8AC3E}">
        <p14:creationId xmlns:p14="http://schemas.microsoft.com/office/powerpoint/2010/main" val="230032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35B3-8D25-3265-E6A5-4954171D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7DB6-CD32-406F-7DD1-BC7EB31B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PyTorch ekosistem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4DED6-3EB1-761D-77E4-354EC3DC2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/>
              <a:t>PyTorch nije samo jedna biblioteka, već ceo ekosistem alata:</a:t>
            </a:r>
            <a:endParaRPr lang="en-US" sz="2400"/>
          </a:p>
          <a:p>
            <a:pPr lvl="1"/>
            <a:r>
              <a:rPr lang="en-GB" sz="2400"/>
              <a:t>TorchVision</a:t>
            </a:r>
            <a:endParaRPr lang="en-US" sz="2400"/>
          </a:p>
          <a:p>
            <a:pPr lvl="1"/>
            <a:r>
              <a:rPr lang="en-GB" sz="2400"/>
              <a:t>TorchText</a:t>
            </a:r>
            <a:endParaRPr lang="en-US" sz="2400"/>
          </a:p>
          <a:p>
            <a:pPr lvl="1"/>
            <a:r>
              <a:rPr lang="en-GB" sz="2400"/>
              <a:t>TorchAudio</a:t>
            </a:r>
            <a:endParaRPr lang="en-US" sz="2400"/>
          </a:p>
          <a:p>
            <a:pPr lvl="1"/>
            <a:r>
              <a:rPr lang="en-GB" sz="2400"/>
              <a:t>PyTorch Lightning</a:t>
            </a:r>
          </a:p>
          <a:p>
            <a:pPr lvl="1"/>
            <a:r>
              <a:rPr lang="en-GB" sz="2400"/>
              <a:t>TorchServe</a:t>
            </a:r>
          </a:p>
        </p:txBody>
      </p:sp>
    </p:spTree>
    <p:extLst>
      <p:ext uri="{BB962C8B-B14F-4D97-AF65-F5344CB8AC3E}">
        <p14:creationId xmlns:p14="http://schemas.microsoft.com/office/powerpoint/2010/main" val="1058968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9DBE-BC2F-C35F-3B6B-F731956AE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Koraci treniranja modela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D0F8D-18B8-4B84-7891-B37DBC05D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400"/>
              <a:t>Definisanje modela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Izbor loss funkcije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Izbor optimizatora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Treniranje na podacima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/>
              <a:t>Evaluacija rezultata</a:t>
            </a:r>
          </a:p>
          <a:p>
            <a:r>
              <a:rPr lang="pl-PL" sz="2400"/>
              <a:t>Ovaj proces je jasan i čitljiv u PyTorch-u.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236086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815A-EEE8-B54B-4A69-65EEE9A4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Prednosti i ograničenja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8A7A-40B8-A358-781D-B36A77E7E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Prednosti:</a:t>
            </a:r>
          </a:p>
          <a:p>
            <a:pPr lvl="1"/>
            <a:r>
              <a:rPr lang="en-GB" sz="2400"/>
              <a:t>Fleksibilnost</a:t>
            </a:r>
          </a:p>
          <a:p>
            <a:pPr lvl="1"/>
            <a:r>
              <a:rPr lang="sr-Latn-RS" sz="2400"/>
              <a:t>Č</a:t>
            </a:r>
            <a:r>
              <a:rPr lang="en-GB" sz="2400"/>
              <a:t>itljiv kod</a:t>
            </a:r>
          </a:p>
          <a:p>
            <a:pPr lvl="1"/>
            <a:r>
              <a:rPr lang="sr-Latn-RS" sz="2400"/>
              <a:t>J</a:t>
            </a:r>
            <a:r>
              <a:rPr lang="en-GB" sz="2400"/>
              <a:t>aka zajednica</a:t>
            </a:r>
          </a:p>
          <a:p>
            <a:r>
              <a:rPr lang="en-GB" sz="2400"/>
              <a:t>Ograničenja:</a:t>
            </a:r>
            <a:endParaRPr lang="sr-Latn-RS" sz="2400"/>
          </a:p>
          <a:p>
            <a:pPr lvl="1"/>
            <a:r>
              <a:rPr lang="pl-PL" sz="2400"/>
              <a:t>nešto slabija produkcijska podrška (ranije)</a:t>
            </a:r>
            <a:endParaRPr lang="sr-Latn-RS" sz="2400"/>
          </a:p>
          <a:p>
            <a:pPr lvl="1"/>
            <a:r>
              <a:rPr lang="en-GB" sz="2400"/>
              <a:t>veća potrošnja memorije u nekim slučajevima</a:t>
            </a:r>
          </a:p>
        </p:txBody>
      </p:sp>
    </p:spTree>
    <p:extLst>
      <p:ext uri="{BB962C8B-B14F-4D97-AF65-F5344CB8AC3E}">
        <p14:creationId xmlns:p14="http://schemas.microsoft.com/office/powerpoint/2010/main" val="3759438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6D56-A459-9DD6-C24F-2C9E1FA2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CAFF4-F9DE-D853-B8FF-B8252CEC2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/>
              <a:t>PyTorch je moćna i fleksibilna biblioteka za AI i Deep Learning.</a:t>
            </a:r>
          </a:p>
          <a:p>
            <a:r>
              <a:rPr lang="pl-PL" sz="2400"/>
              <a:t>Posebno je pogodna za:</a:t>
            </a:r>
          </a:p>
          <a:p>
            <a:pPr lvl="1"/>
            <a:r>
              <a:rPr lang="en-GB" sz="2400"/>
              <a:t>Istraživanje</a:t>
            </a:r>
            <a:endParaRPr lang="pl-PL" sz="2400"/>
          </a:p>
          <a:p>
            <a:pPr lvl="1"/>
            <a:r>
              <a:rPr lang="en-GB" sz="2400"/>
              <a:t>Učenje</a:t>
            </a:r>
            <a:endParaRPr lang="pl-PL" sz="2400"/>
          </a:p>
          <a:p>
            <a:pPr lvl="1"/>
            <a:r>
              <a:rPr lang="sr-Latn-RS" sz="2400"/>
              <a:t>B</a:t>
            </a:r>
            <a:r>
              <a:rPr lang="en-GB" sz="2400"/>
              <a:t>rzu izradu prototipa</a:t>
            </a:r>
            <a:endParaRPr lang="pl-PL" sz="2400"/>
          </a:p>
          <a:p>
            <a:r>
              <a:rPr lang="en-GB" sz="2400"/>
              <a:t>Zbog svoje jednostavnosti i ekosistema, PyTorch je danas jedan od standarda u oblasti veštačke inteligencije.</a:t>
            </a:r>
          </a:p>
        </p:txBody>
      </p:sp>
    </p:spTree>
    <p:extLst>
      <p:ext uri="{BB962C8B-B14F-4D97-AF65-F5344CB8AC3E}">
        <p14:creationId xmlns:p14="http://schemas.microsoft.com/office/powerpoint/2010/main" val="549290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8091-97C3-2BE3-A213-3AE085716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sr-Latn-RS"/>
              <a:t>Hvala na pažnji!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80732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24</TotalTime>
  <Words>354</Words>
  <Application>Microsoft Office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Schoolbook</vt:lpstr>
      <vt:lpstr>Wingdings 2</vt:lpstr>
      <vt:lpstr>View</vt:lpstr>
      <vt:lpstr>PyTorch</vt:lpstr>
      <vt:lpstr>Uvod u PyTorch</vt:lpstr>
      <vt:lpstr>Gde se PyTorch koristi</vt:lpstr>
      <vt:lpstr>Kratka istorija PyTorch-a</vt:lpstr>
      <vt:lpstr>Zašto je PyTorch popularan</vt:lpstr>
      <vt:lpstr>Osnovni koncepti u PyTorch-u</vt:lpstr>
      <vt:lpstr>Tensor</vt:lpstr>
      <vt:lpstr>Dinamički računarski graf</vt:lpstr>
      <vt:lpstr>PyTorch ekosistem</vt:lpstr>
      <vt:lpstr>Koraci treniranja modela</vt:lpstr>
      <vt:lpstr>Prednosti i ograničenja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Int5629</dc:creator>
  <cp:lastModifiedBy>Vukasin Popovic</cp:lastModifiedBy>
  <cp:revision>20</cp:revision>
  <dcterms:created xsi:type="dcterms:W3CDTF">2026-01-13T07:06:16Z</dcterms:created>
  <dcterms:modified xsi:type="dcterms:W3CDTF">2026-01-26T08:24:49Z</dcterms:modified>
</cp:coreProperties>
</file>